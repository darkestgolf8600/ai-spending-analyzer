
<file path=[Content_Types].xml><?xml version="1.0" encoding="utf-8"?>
<Types xmlns="http://schemas.openxmlformats.org/package/2006/content-types">
  <Default ContentType="application/x-fontdata" Extension="fntdata"/>
  <Default ContentType="application/xml" Extension="xml"/>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Lst>
  <p:sldSz cy="5143500" cx="9144000"/>
  <p:notesSz cx="6858000" cy="9144000"/>
  <p:embeddedFontLst>
    <p:embeddedFont>
      <p:font typeface="IBM Plex Sans"/>
      <p:regular r:id="rId18"/>
      <p:bold r:id="rId19"/>
      <p:italic r:id="rId20"/>
      <p:boldItalic r:id="rId21"/>
    </p:embeddedFont>
    <p:embeddedFont>
      <p:font typeface="IBM Plex Mono Medium"/>
      <p:regular r:id="rId22"/>
      <p:bold r:id="rId23"/>
      <p:italic r:id="rId24"/>
      <p:boldItalic r:id="rId25"/>
    </p:embeddedFont>
    <p:embeddedFont>
      <p:font typeface="IBM Plex Serif SemiBold"/>
      <p:regular r:id="rId26"/>
      <p:bold r:id="rId27"/>
      <p:italic r:id="rId28"/>
      <p:boldItalic r:id="rId29"/>
    </p:embeddedFont>
    <p:embeddedFont>
      <p:font typeface="IBM Plex Sans Medium"/>
      <p:regular r:id="rId30"/>
      <p:bold r:id="rId31"/>
      <p:italic r:id="rId32"/>
      <p:boldItalic r:id="rId33"/>
    </p:embeddedFont>
    <p:embeddedFont>
      <p:font typeface="IBM Plex Mono SemiBold"/>
      <p:regular r:id="rId34"/>
      <p:bold r:id="rId35"/>
      <p:italic r:id="rId36"/>
      <p:boldItalic r:id="rId37"/>
    </p:embeddedFont>
    <p:embeddedFont>
      <p:font typeface="IBM Plex Mono"/>
      <p:regular r:id="rId38"/>
      <p:bold r:id="rId39"/>
      <p:italic r:id="rId40"/>
      <p:boldItalic r:id="rId41"/>
    </p:embeddedFont>
    <p:embeddedFont>
      <p:font typeface="IBM Plex Sans SemiBold"/>
      <p:regular r:id="rId42"/>
      <p:bold r:id="rId43"/>
      <p:italic r:id="rId44"/>
      <p:boldItalic r:id="rId4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BB2B7B9-42E6-43CC-AF5A-983BCAD63E53}">
  <a:tblStyle styleId="{6BB2B7B9-42E6-43CC-AF5A-983BCAD63E53}"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font" Target="fonts/IBMPlexMono-italic.fntdata"/><Relationship Id="rId20" Type="http://schemas.openxmlformats.org/officeDocument/2006/relationships/font" Target="fonts/IBMPlexSans-italic.fntdata"/><Relationship Id="rId42" Type="http://schemas.openxmlformats.org/officeDocument/2006/relationships/font" Target="fonts/IBMPlexSansSemiBold-regular.fntdata"/><Relationship Id="rId41" Type="http://schemas.openxmlformats.org/officeDocument/2006/relationships/font" Target="fonts/IBMPlexMono-boldItalic.fntdata"/><Relationship Id="rId22" Type="http://schemas.openxmlformats.org/officeDocument/2006/relationships/font" Target="fonts/IBMPlexMonoMedium-regular.fntdata"/><Relationship Id="rId44" Type="http://schemas.openxmlformats.org/officeDocument/2006/relationships/font" Target="fonts/IBMPlexSansSemiBold-italic.fntdata"/><Relationship Id="rId21" Type="http://schemas.openxmlformats.org/officeDocument/2006/relationships/font" Target="fonts/IBMPlexSans-boldItalic.fntdata"/><Relationship Id="rId43" Type="http://schemas.openxmlformats.org/officeDocument/2006/relationships/font" Target="fonts/IBMPlexSansSemiBold-bold.fntdata"/><Relationship Id="rId24" Type="http://schemas.openxmlformats.org/officeDocument/2006/relationships/font" Target="fonts/IBMPlexMonoMedium-italic.fntdata"/><Relationship Id="rId23" Type="http://schemas.openxmlformats.org/officeDocument/2006/relationships/font" Target="fonts/IBMPlexMonoMedium-bold.fntdata"/><Relationship Id="rId45" Type="http://schemas.openxmlformats.org/officeDocument/2006/relationships/font" Target="fonts/IBMPlexSansSemiBold-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IBMPlexSerifSemiBold-regular.fntdata"/><Relationship Id="rId25" Type="http://schemas.openxmlformats.org/officeDocument/2006/relationships/font" Target="fonts/IBMPlexMonoMedium-boldItalic.fntdata"/><Relationship Id="rId28" Type="http://schemas.openxmlformats.org/officeDocument/2006/relationships/font" Target="fonts/IBMPlexSerifSemiBold-italic.fntdata"/><Relationship Id="rId27" Type="http://schemas.openxmlformats.org/officeDocument/2006/relationships/font" Target="fonts/IBMPlexSerifSemiBold-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IBMPlexSerifSemiBold-boldItalic.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IBMPlexSansMedium-bold.fntdata"/><Relationship Id="rId30" Type="http://schemas.openxmlformats.org/officeDocument/2006/relationships/font" Target="fonts/IBMPlexSansMedium-regular.fntdata"/><Relationship Id="rId11" Type="http://schemas.openxmlformats.org/officeDocument/2006/relationships/slide" Target="slides/slide5.xml"/><Relationship Id="rId33" Type="http://schemas.openxmlformats.org/officeDocument/2006/relationships/font" Target="fonts/IBMPlexSansMedium-boldItalic.fntdata"/><Relationship Id="rId10" Type="http://schemas.openxmlformats.org/officeDocument/2006/relationships/slide" Target="slides/slide4.xml"/><Relationship Id="rId32" Type="http://schemas.openxmlformats.org/officeDocument/2006/relationships/font" Target="fonts/IBMPlexSansMedium-italic.fntdata"/><Relationship Id="rId13" Type="http://schemas.openxmlformats.org/officeDocument/2006/relationships/slide" Target="slides/slide7.xml"/><Relationship Id="rId35" Type="http://schemas.openxmlformats.org/officeDocument/2006/relationships/font" Target="fonts/IBMPlexMonoSemiBold-bold.fntdata"/><Relationship Id="rId12" Type="http://schemas.openxmlformats.org/officeDocument/2006/relationships/slide" Target="slides/slide6.xml"/><Relationship Id="rId34" Type="http://schemas.openxmlformats.org/officeDocument/2006/relationships/font" Target="fonts/IBMPlexMonoSemiBold-regular.fntdata"/><Relationship Id="rId15" Type="http://schemas.openxmlformats.org/officeDocument/2006/relationships/slide" Target="slides/slide9.xml"/><Relationship Id="rId37" Type="http://schemas.openxmlformats.org/officeDocument/2006/relationships/font" Target="fonts/IBMPlexMonoSemiBold-boldItalic.fntdata"/><Relationship Id="rId14" Type="http://schemas.openxmlformats.org/officeDocument/2006/relationships/slide" Target="slides/slide8.xml"/><Relationship Id="rId36" Type="http://schemas.openxmlformats.org/officeDocument/2006/relationships/font" Target="fonts/IBMPlexMonoSemiBold-italic.fntdata"/><Relationship Id="rId17" Type="http://schemas.openxmlformats.org/officeDocument/2006/relationships/slide" Target="slides/slide11.xml"/><Relationship Id="rId39" Type="http://schemas.openxmlformats.org/officeDocument/2006/relationships/font" Target="fonts/IBMPlexMono-bold.fntdata"/><Relationship Id="rId16" Type="http://schemas.openxmlformats.org/officeDocument/2006/relationships/slide" Target="slides/slide10.xml"/><Relationship Id="rId38" Type="http://schemas.openxmlformats.org/officeDocument/2006/relationships/font" Target="fonts/IBMPlexMono-regular.fntdata"/><Relationship Id="rId19" Type="http://schemas.openxmlformats.org/officeDocument/2006/relationships/font" Target="fonts/IBMPlexSans-bold.fntdata"/><Relationship Id="rId18" Type="http://schemas.openxmlformats.org/officeDocument/2006/relationships/font" Target="fonts/IBMPlexSans-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a2s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a2s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1 · about 15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Hi, we're Josh, Neil and Neil, and we're building a spending analyzer for college students.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On the right is a month of a student's card statement. Most of these names are bank codes, so it's hard to tell what each charge was.</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a2s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a2s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1 · about 30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Our user is a student living off campus, paying rent and bills for the first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app has three jobs: put each charge in a category like Dining, find the monthly bills, and suggest a budget. The totals have to be exact.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table shows the hard part. SQ KOPI KOPI is a coffee shop, which you can look up. But a Stewart's charge could be gas or ice cream.</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a2s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a2s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1 · about 30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This is our current design. Code cleans up the bank file. Then each charge gets a category. If the student's past answers for that store agree, we reuse them. If not, an LLM picks a category and says if it's sure. If it's unsure, we ask the student and save the answer.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Then code does all the math, and the LLM only explains our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bottom row shows where the meaning comes from at each step.</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what a label is: the category we picked by hand for each charge, like Dining. It's our answer key.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where meaning lives, in course terms: rules (our regex patterns), labels (our 11 categories), what the LLM learned in training (it knows Planet Fitness is a gym), the student's saved answers, and the prompt (we give it only our numbers).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what we dropped: keyword rules, our own classifier, a neural net and similarity search. The next slides show why.</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why past answers only count when they agree: reusing a store's past label was right 160 of 160 times at one-purpose stores, but only 6 of 24 times at mixed stores like Target. Mixed stores go to the LLM instead. That's our next question.</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a2s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 name="Google Shape;126;a2s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2 · about 35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On October 9, we thought a classifier might be more consistent than an LLM, and that similarity search could match unfamiliar charges. So we scored everything on the same 68 September charges. Accuracy means it matched the category we picked by hand.</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top three were trained on our data. They got 84 to 90 percent on stores they'd seen, but about 25 on new stores. They learned store names, so Netflix came out as Transport.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bottom three weren't trained on our data. Keyword rules got 82, and the LLM got 93 and 94.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about the dashed line: three September charges have the same store name as another charge but a different purchase, at Stewart's, Target and Apple. Anything that only reads the store name misses one of each, so 65 of 68 is the limit. The large model got 64. Its extra miss was the Costco desk chair.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about keyword rules: they weren't trained, but we wrote them knowing our store list, so 82 percent is probably better than they'd do for a new student.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how this connects to class: it's the Meeting 5 problem again. The urgency classifier called “I may need an extension because of illness” not urgent, because it only knew the words it was trained on.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7" name="Shape 177"/>
        <p:cNvGrpSpPr/>
        <p:nvPr/>
      </p:nvGrpSpPr>
      <p:grpSpPr>
        <a:xfrm>
          <a:off x="0" y="0"/>
          <a:ext cx="0" cy="0"/>
          <a:chOff x="0" y="0"/>
          <a:chExt cx="0" cy="0"/>
        </a:xfrm>
      </p:grpSpPr>
      <p:sp>
        <p:nvSpPr>
          <p:cNvPr id="178" name="Google Shape;178;a2s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9" name="Google Shape;179;a2s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2 · about 30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This failure changed our plan. We wanted the classifier to ask the student only when it wasn't confident. But on new stores, its most confident answers were all wrong. Uber Eats got Transport at 0.91. Over three months, 28 guesses were above 0.70, and none were right.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Similarity search did the same. It rated Uber Eats and Uber Trip 0.80 similar, but one is food and one is a ride. That's like our Meeting 8 search, where “without Linear Algebra” matched “requires Linear Algebra.”</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what 0.91 means: the classifier's own probability for its answer. 0.70 and up is where we would have trusted it without asking. In September alone it was 0 of 8.</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whether these were really new stores: yes, but 7 of the 8 stores behind those 28 misses had a same-brand sibling in training, like Uber Eats and Uber rides. The shared brand words beat the one word that matters. A name it had never seen at all, like Netflix, got low confidence (0.35).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about the 0.80: that's with the text model fit on all charges. Inside the search itself, the pair scored about 0.90.</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about Meeting 8: that was our earlier class-scheduling project. Same lesson: similar text isn't the same meaning.</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0" name="Shape 190"/>
        <p:cNvGrpSpPr/>
        <p:nvPr/>
      </p:nvGrpSpPr>
      <p:grpSpPr>
        <a:xfrm>
          <a:off x="0" y="0"/>
          <a:ext cx="0" cy="0"/>
          <a:chOff x="0" y="0"/>
          <a:chExt cx="0" cy="0"/>
        </a:xfrm>
      </p:grpSpPr>
      <p:sp>
        <p:nvSpPr>
          <p:cNvPr id="191" name="Google Shape;191;a2s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2" name="Google Shape;192;a2s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2 · about 35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Then we tested the LLM. With no statement, it said it couldn't see our spending instead of making numbers up. With the statement, the small model matched 63 of our 68 labels in all three runs, and its total matched our code to the cent. The large model got 64.</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The box on the right matters most. In run 1, when it said sure, it was right 58 of 59 times. When it said unsure, only 5 of 9. So its “unsure” points at the hard charges.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about the other runs: run 3 marked 11 unsure and caught all 5 misses. Across all four runs, 17 of the 19 misses were marked unsure. Only 5 different charges were ever missed, and the $0.99 Apple app charge was marked sure in two runs.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why we trust “unsure” after slide 5: we measured it instead of assuming it. The classifier's confident guesses were 0 for 28. The LLM's “unsure” caught most of its misses. It's still one statement, so we keep measuring it: questions asked versus mistakes left.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which models: Claude Haiku 5.5 is the small one and Claude Opus 5.5 is the large one. No tools, same prompt every time.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a2s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6" name="Google Shape;206;a2s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3 · about 40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Here's what we decided. Adopt: code for all the money math, and an LLM summary that only uses our numbers, though we've only run it once.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Modify: the LLM categorizer, so it asks when it's unsure, and the bill check, which missed the electric bill when it went from 38 to 61 dollars.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Reject: keyword rules, our classifier and similarity search. Defer: the neural net and receipt scanning.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Together, the LLM handles new stores, code keeps the math exact, and the student settles the mixed stores. That's the hybrid we planned on October 9, plus asking the student.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how the approaches connect: the LLM replaced our trained models, because it knows stores our labels never showed. The LLM depends on code: it only explains numbers code computed. The bill-check fix depends on the categories: only utility bills get to change amount, so it needs to know which charges are utilities. And they conflict on confidence: the classifier was most sure when it was wrong, while the LLM's “unsure” caught most of its misses.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what changed since October 9: we thought a classifier might be more consistent. The LLM gave the same labels in all 3 runs and did far better on new stores. We thought search could match unfamiliar charges. It got 22 percent on new stores. We worried the LLM would make math mistakes. It made none in 4 runs, but we still keep the math in code. For RAG, we'll try the student's own past charges before receipts.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why we keep code for totals when the LLM got the total right: four runs can't show it never makes a math mistake, and with money we want exact and checkable. Its category totals were off by up to $71, and with the same labels its October budgets ranged from about $1,444 to $1,685.</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how we'll fix the bill check: loosening the amount for every bill found the electric bill but raised false alarms from 3 to 8, so we'd only loosen it for utilities. iCloud was missed for a different reason: it shares APPLE.COM/BILL with app purchases.</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a2s0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3" name="Google Shape;223;a2s0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SPEAKER 3 · about 25 sec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Our next question is about stores that sell lots of things. They're 12 percent of charges, and in our first run they were 7 of the LLM's 9 unsure flags.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Our idea is to show the LLM what the student bought there before, which is a simple form of RAG. At Stewart's, big charges were gas and small ones were ice cream. We haven't tested it yet.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Thanks, happy to take questions.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how we'll judge it: questions asked per month versus labels still wrong, compared with asking the student every time.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If asked whether it will work: our made-up data has the big-means-gas pattern built in, so testing it on this data is only a sanity check. The real test needs real statements. It also won't fix Costco yet, since the history has only one earlier trip there.</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a2s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9" name="Google Shape;239;a2s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BACKUP · for questions about how we tested</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Is this real bank data? No. We made it up, but in the same formats real banks use, like POS PURCHASE and CHECKCARD. We labeled every charge ourselves. For stores like Target, we labeled by what was bought. It's one made-up student, so these are early results. The real test needs statements we didn't write.</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only 68 charges? That's the September statement we gave the LLM (it includes 2 deposits). One charge is about 1.5 percent, so 93 versus 94 is one charge. The drop from about 85 to 25 is far bigger than that.</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What does a new store mean? We held out every charge from a store at once, so the model never saw that store in training. It often had seen the same brand, though, like Uber rides for Uber Eats.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Which LLMs? Claude Haiku 5.5 for 3 runs, plus the no-statement and numbers-only tests. Claude Opus 5.5 for 1 run. No tools, same prompt each time. The prompt listed our 11 categories and said what counts as a transfer.</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pieces of words (character n-grams)? Bank text is full of codes and store numbers. We also tried whole words: same on seen stores, 32 percent instead of 26 on new ones. Still far below the LLM.</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Why not a bigger neural net? Ours already fit its own training charges (95 percent) but got 24 percent on new stores. The problem is that store names don't carry over, not the model's size. It would need labeled data from many students.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Did you try real embeddings? Not yet. Our similarity search uses character TF-IDF. Pretrained embeddings might know Uber Eats is food and cost less than an LLM, so they're worth testing.</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Privacy? We haven't tested it. Sending bank data to an LLM is a real concern. Our clean-up step drops card numbers, and a real app would need the student's consent.</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a2s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a2s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BACKUP · the A2 evidence summary table (submission item C)</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Point to the row someone asks about. Accuracy numbers are on the 68 September charges. The bill check and the 12 percent use all three months. The bill check found 11 of 13 bills and raised 3 false alarms.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“17 of 19 misses flagged” counts all four LLM runs together. Only 5 different charges were ever missed.</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3" name="Shape 263"/>
        <p:cNvGrpSpPr/>
        <p:nvPr/>
      </p:nvGrpSpPr>
      <p:grpSpPr>
        <a:xfrm>
          <a:off x="0" y="0"/>
          <a:ext cx="0" cy="0"/>
          <a:chOff x="0" y="0"/>
          <a:chExt cx="0" cy="0"/>
        </a:xfrm>
      </p:grpSpPr>
      <p:sp>
        <p:nvSpPr>
          <p:cNvPr id="264" name="Google Shape;264;a2s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5" name="Google Shape;265;a2s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
              <a:t>BACKUP · submission item E</a:t>
            </a:r>
            <a:endParaRPr b="1"/>
          </a:p>
          <a:p>
            <a:pPr indent="0" lvl="0" marL="0" rtl="0" algn="l">
              <a:spcBef>
                <a:spcPts val="0"/>
              </a:spcBef>
              <a:spcAft>
                <a:spcPts val="0"/>
              </a:spcAft>
              <a:buNone/>
            </a:pPr>
            <a:r>
              <a:t/>
            </a:r>
            <a:endParaRPr/>
          </a:p>
          <a:p>
            <a:pPr indent="0" lvl="0" marL="0" rtl="0" algn="l">
              <a:spcBef>
                <a:spcPts val="0"/>
              </a:spcBef>
              <a:spcAft>
                <a:spcPts val="0"/>
              </a:spcAft>
              <a:buNone/>
            </a:pPr>
            <a:r>
              <a:rPr lang="en"/>
              <a:t>Fill in one line per person before we submit, then delete this note.</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1.xml"/><Relationship Id="rId3" Type="http://schemas.openxmlformats.org/officeDocument/2006/relationships/hyperlink" Target="https://drive.google.com/drive/folders/1ON98bTv1s4N0X8jsCrmlbD7CLP3OIScL?usp=sharing"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1D1C1A"/>
        </a:solidFill>
      </p:bgPr>
    </p:bg>
    <p:spTree>
      <p:nvGrpSpPr>
        <p:cNvPr id="53" name="Shape 53"/>
        <p:cNvGrpSpPr/>
        <p:nvPr/>
      </p:nvGrpSpPr>
      <p:grpSpPr>
        <a:xfrm>
          <a:off x="0" y="0"/>
          <a:ext cx="0" cy="0"/>
          <a:chOff x="0" y="0"/>
          <a:chExt cx="0" cy="0"/>
        </a:xfrm>
      </p:grpSpPr>
      <p:sp>
        <p:nvSpPr>
          <p:cNvPr id="54" name="Google Shape;54;p13"/>
          <p:cNvSpPr txBox="1"/>
          <p:nvPr/>
        </p:nvSpPr>
        <p:spPr>
          <a:xfrm>
            <a:off x="457200" y="603504"/>
            <a:ext cx="51207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9A9285"/>
                </a:solidFill>
                <a:latin typeface="IBM Plex Mono"/>
                <a:ea typeface="IBM Plex Mono"/>
                <a:cs typeface="IBM Plex Mono"/>
                <a:sym typeface="IBM Plex Mono"/>
              </a:rPr>
              <a:t>CSCI 4150 · INTRO TO AI · A2 REVIEW</a:t>
            </a:r>
            <a:endParaRPr sz="1000">
              <a:solidFill>
                <a:srgbClr val="9A9285"/>
              </a:solidFill>
              <a:latin typeface="IBM Plex Mono"/>
              <a:ea typeface="IBM Plex Mono"/>
              <a:cs typeface="IBM Plex Mono"/>
              <a:sym typeface="IBM Plex Mono"/>
            </a:endParaRPr>
          </a:p>
        </p:txBody>
      </p:sp>
      <p:sp>
        <p:nvSpPr>
          <p:cNvPr id="55" name="Google Shape;55;p13"/>
          <p:cNvSpPr txBox="1"/>
          <p:nvPr/>
        </p:nvSpPr>
        <p:spPr>
          <a:xfrm>
            <a:off x="457200" y="932688"/>
            <a:ext cx="5212200" cy="822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200">
                <a:solidFill>
                  <a:srgbClr val="F4F1EA"/>
                </a:solidFill>
                <a:latin typeface="IBM Plex Serif SemiBold"/>
                <a:ea typeface="IBM Plex Serif SemiBold"/>
                <a:cs typeface="IBM Plex Serif SemiBold"/>
                <a:sym typeface="IBM Plex Serif SemiBold"/>
              </a:rPr>
              <a:t>Spending Analyzer</a:t>
            </a:r>
            <a:endParaRPr sz="4200">
              <a:solidFill>
                <a:srgbClr val="F4F1EA"/>
              </a:solidFill>
              <a:latin typeface="IBM Plex Serif SemiBold"/>
              <a:ea typeface="IBM Plex Serif SemiBold"/>
              <a:cs typeface="IBM Plex Serif SemiBold"/>
              <a:sym typeface="IBM Plex Serif SemiBold"/>
            </a:endParaRPr>
          </a:p>
        </p:txBody>
      </p:sp>
      <p:sp>
        <p:nvSpPr>
          <p:cNvPr id="56" name="Google Shape;56;p13"/>
          <p:cNvSpPr txBox="1"/>
          <p:nvPr/>
        </p:nvSpPr>
        <p:spPr>
          <a:xfrm>
            <a:off x="457200" y="3931920"/>
            <a:ext cx="5303400" cy="310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F4F1EA"/>
                </a:solidFill>
                <a:latin typeface="IBM Plex Sans Medium"/>
                <a:ea typeface="IBM Plex Sans Medium"/>
                <a:cs typeface="IBM Plex Sans Medium"/>
                <a:sym typeface="IBM Plex Sans Medium"/>
              </a:rPr>
              <a:t>Josh Ramirez  ·  Neil Paul  ·  Neil Shrestha</a:t>
            </a:r>
            <a:endParaRPr sz="1500">
              <a:solidFill>
                <a:srgbClr val="F4F1EA"/>
              </a:solidFill>
              <a:latin typeface="IBM Plex Sans Medium"/>
              <a:ea typeface="IBM Plex Sans Medium"/>
              <a:cs typeface="IBM Plex Sans Medium"/>
              <a:sym typeface="IBM Plex Sans Medium"/>
            </a:endParaRPr>
          </a:p>
        </p:txBody>
      </p:sp>
      <p:sp>
        <p:nvSpPr>
          <p:cNvPr id="57" name="Google Shape;57;p13"/>
          <p:cNvSpPr txBox="1"/>
          <p:nvPr/>
        </p:nvSpPr>
        <p:spPr>
          <a:xfrm>
            <a:off x="457200" y="4242816"/>
            <a:ext cx="53034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rgbClr val="9A9285"/>
                </a:solidFill>
                <a:latin typeface="IBM Plex Sans"/>
                <a:ea typeface="IBM Plex Sans"/>
                <a:cs typeface="IBM Plex Sans"/>
                <a:sym typeface="IBM Plex Sans"/>
              </a:rPr>
              <a:t>October 2026</a:t>
            </a:r>
            <a:endParaRPr sz="1200">
              <a:solidFill>
                <a:srgbClr val="9A9285"/>
              </a:solidFill>
              <a:latin typeface="IBM Plex Sans"/>
              <a:ea typeface="IBM Plex Sans"/>
              <a:cs typeface="IBM Plex Sans"/>
              <a:sym typeface="IBM Plex Sans"/>
            </a:endParaRPr>
          </a:p>
        </p:txBody>
      </p:sp>
      <p:sp>
        <p:nvSpPr>
          <p:cNvPr id="58" name="Google Shape;58;p13"/>
          <p:cNvSpPr/>
          <p:nvPr/>
        </p:nvSpPr>
        <p:spPr>
          <a:xfrm>
            <a:off x="5623560" y="566928"/>
            <a:ext cx="3063300" cy="3612000"/>
          </a:xfrm>
          <a:prstGeom prst="rect">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9" name="Google Shape;59;p13"/>
          <p:cNvSpPr/>
          <p:nvPr/>
        </p:nvSpPr>
        <p:spPr>
          <a:xfrm flipH="1" rot="10800000">
            <a:off x="5623560"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0" name="Google Shape;60;p13"/>
          <p:cNvSpPr/>
          <p:nvPr/>
        </p:nvSpPr>
        <p:spPr>
          <a:xfrm flipH="1" rot="10800000">
            <a:off x="5929884"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 name="Google Shape;61;p13"/>
          <p:cNvSpPr/>
          <p:nvPr/>
        </p:nvSpPr>
        <p:spPr>
          <a:xfrm flipH="1" rot="10800000">
            <a:off x="6236208"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2" name="Google Shape;62;p13"/>
          <p:cNvSpPr/>
          <p:nvPr/>
        </p:nvSpPr>
        <p:spPr>
          <a:xfrm flipH="1" rot="10800000">
            <a:off x="6542532"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3" name="Google Shape;63;p13"/>
          <p:cNvSpPr/>
          <p:nvPr/>
        </p:nvSpPr>
        <p:spPr>
          <a:xfrm flipH="1" rot="10800000">
            <a:off x="6848856"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4" name="Google Shape;64;p13"/>
          <p:cNvSpPr/>
          <p:nvPr/>
        </p:nvSpPr>
        <p:spPr>
          <a:xfrm flipH="1" rot="10800000">
            <a:off x="7155180"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5" name="Google Shape;65;p13"/>
          <p:cNvSpPr/>
          <p:nvPr/>
        </p:nvSpPr>
        <p:spPr>
          <a:xfrm flipH="1" rot="10800000">
            <a:off x="7461504"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6" name="Google Shape;66;p13"/>
          <p:cNvSpPr/>
          <p:nvPr/>
        </p:nvSpPr>
        <p:spPr>
          <a:xfrm flipH="1" rot="10800000">
            <a:off x="7767828"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7" name="Google Shape;67;p13"/>
          <p:cNvSpPr/>
          <p:nvPr/>
        </p:nvSpPr>
        <p:spPr>
          <a:xfrm flipH="1" rot="10800000">
            <a:off x="8074152"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 name="Google Shape;68;p13"/>
          <p:cNvSpPr/>
          <p:nvPr/>
        </p:nvSpPr>
        <p:spPr>
          <a:xfrm flipH="1" rot="10800000">
            <a:off x="8380476" y="4178880"/>
            <a:ext cx="306300" cy="118800"/>
          </a:xfrm>
          <a:prstGeom prst="triangle">
            <a:avLst>
              <a:gd fmla="val 50000" name="adj"/>
            </a:avLst>
          </a:prstGeom>
          <a:solidFill>
            <a:srgbClr val="F4F1E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9" name="Google Shape;69;p13"/>
          <p:cNvSpPr txBox="1"/>
          <p:nvPr/>
        </p:nvSpPr>
        <p:spPr>
          <a:xfrm>
            <a:off x="5733288" y="768096"/>
            <a:ext cx="2935200" cy="3337500"/>
          </a:xfrm>
          <a:prstGeom prst="rect">
            <a:avLst/>
          </a:prstGeom>
          <a:noFill/>
          <a:ln>
            <a:noFill/>
          </a:ln>
        </p:spPr>
        <p:txBody>
          <a:bodyPr anchorCtr="0" anchor="t" bIns="91425" lIns="91425" spcFirstLastPara="1" rIns="91425" wrap="square" tIns="91425">
            <a:noAutofit/>
          </a:bodyPr>
          <a:lstStyle/>
          <a:p>
            <a:pPr indent="0" lvl="0" marL="0" rtl="0" algn="l">
              <a:lnSpc>
                <a:spcPct val="128000"/>
              </a:lnSpc>
              <a:spcBef>
                <a:spcPts val="0"/>
              </a:spcBef>
              <a:spcAft>
                <a:spcPts val="0"/>
              </a:spcAft>
              <a:buNone/>
            </a:pPr>
            <a:r>
              <a:rPr lang="en" sz="1000">
                <a:solidFill>
                  <a:srgbClr val="6B655C"/>
                </a:solidFill>
                <a:latin typeface="IBM Plex Mono"/>
                <a:ea typeface="IBM Plex Mono"/>
                <a:cs typeface="IBM Plex Mono"/>
                <a:sym typeface="IBM Plex Mono"/>
              </a:rPr>
              <a:t>SEPTEMBER 2026 · CARD ••4821</a:t>
            </a:r>
            <a:endParaRPr sz="1000">
              <a:solidFill>
                <a:srgbClr val="6B655C"/>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SQ *KOPI KOPI TROY NY        6.18</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TARGET T-1849 LATHAM NY     28.41</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UBER *EATS HELP.UBER.COM CA 22.68</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PLANET FIT CLUB FEES        15.00</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STEWARTS SHOP 345 TROY NY   28.81</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DOORDASH*DASHPASS            4.99</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VENMO PAYMENT 5225551094    29.43</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PAYPAL *KJ8STUDIO           18.00</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AMAZON PRIME*DJP7WVGSQ       7.49</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DD *DOORDASH SUSHIKING      25.95</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SemiBold"/>
                <a:ea typeface="IBM Plex Mono SemiBold"/>
                <a:cs typeface="IBM Plex Mono SemiBold"/>
                <a:sym typeface="IBM Plex Mono SemiBold"/>
              </a:rPr>
              <a:t>SPENT IN SEPTEMBER       2,053.54</a:t>
            </a:r>
            <a:endParaRPr sz="1000">
              <a:solidFill>
                <a:srgbClr val="1F1D1A"/>
              </a:solidFill>
              <a:latin typeface="IBM Plex Mono SemiBold"/>
              <a:ea typeface="IBM Plex Mono SemiBold"/>
              <a:cs typeface="IBM Plex Mono SemiBold"/>
              <a:sym typeface="IBM Plex Mono SemiBold"/>
            </a:endParaRPr>
          </a:p>
        </p:txBody>
      </p:sp>
      <p:sp>
        <p:nvSpPr>
          <p:cNvPr id="70" name="Google Shape;70;p13"/>
          <p:cNvSpPr txBox="1"/>
          <p:nvPr/>
        </p:nvSpPr>
        <p:spPr>
          <a:xfrm>
            <a:off x="457200" y="1901952"/>
            <a:ext cx="5029200" cy="868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0"/>
              </a:spcBef>
              <a:spcAft>
                <a:spcPts val="0"/>
              </a:spcAft>
              <a:buNone/>
            </a:pPr>
            <a:r>
              <a:rPr lang="en" sz="2000">
                <a:solidFill>
                  <a:srgbClr val="D8D2C6"/>
                </a:solidFill>
                <a:latin typeface="IBM Plex Sans"/>
                <a:ea typeface="IBM Plex Sans"/>
                <a:cs typeface="IBM Plex Sans"/>
                <a:sym typeface="IBM Plex Sans"/>
              </a:rPr>
              <a:t>Sorts a student's bank charges into categories and suggests a budget</a:t>
            </a:r>
            <a:endParaRPr sz="2000">
              <a:solidFill>
                <a:srgbClr val="D8D2C6"/>
              </a:solidFill>
              <a:latin typeface="IBM Plex Sans"/>
              <a:ea typeface="IBM Plex Sans"/>
              <a:cs typeface="IBM Plex Sans"/>
              <a:sym typeface="IBM Plex Sans"/>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74" name="Shape 74"/>
        <p:cNvGrpSpPr/>
        <p:nvPr/>
      </p:nvGrpSpPr>
      <p:grpSpPr>
        <a:xfrm>
          <a:off x="0" y="0"/>
          <a:ext cx="0" cy="0"/>
          <a:chOff x="0" y="0"/>
          <a:chExt cx="0" cy="0"/>
        </a:xfrm>
      </p:grpSpPr>
      <p:sp>
        <p:nvSpPr>
          <p:cNvPr id="75" name="Google Shape;75;p14"/>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01 · PROBLEM AND USER</a:t>
            </a:r>
            <a:endParaRPr sz="1000">
              <a:solidFill>
                <a:srgbClr val="6B655C"/>
              </a:solidFill>
              <a:latin typeface="IBM Plex Mono"/>
              <a:ea typeface="IBM Plex Mono"/>
              <a:cs typeface="IBM Plex Mono"/>
              <a:sym typeface="IBM Plex Mono"/>
            </a:endParaRPr>
          </a:p>
        </p:txBody>
      </p:sp>
      <p:sp>
        <p:nvSpPr>
          <p:cNvPr id="76" name="Google Shape;76;p14"/>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02</a:t>
            </a:r>
            <a:endParaRPr sz="900">
              <a:solidFill>
                <a:srgbClr val="9A9285"/>
              </a:solidFill>
              <a:latin typeface="IBM Plex Mono"/>
              <a:ea typeface="IBM Plex Mono"/>
              <a:cs typeface="IBM Plex Mono"/>
              <a:sym typeface="IBM Plex Mono"/>
            </a:endParaRPr>
          </a:p>
        </p:txBody>
      </p:sp>
      <p:sp>
        <p:nvSpPr>
          <p:cNvPr id="77" name="Google Shape;77;p14"/>
          <p:cNvSpPr txBox="1"/>
          <p:nvPr/>
        </p:nvSpPr>
        <p:spPr>
          <a:xfrm>
            <a:off x="365760" y="1700784"/>
            <a:ext cx="39777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WHO IT'S FOR</a:t>
            </a:r>
            <a:endParaRPr sz="1000">
              <a:solidFill>
                <a:srgbClr val="B4532A"/>
              </a:solidFill>
              <a:latin typeface="IBM Plex Mono Medium"/>
              <a:ea typeface="IBM Plex Mono Medium"/>
              <a:cs typeface="IBM Plex Mono Medium"/>
              <a:sym typeface="IBM Plex Mono Medium"/>
            </a:endParaRPr>
          </a:p>
        </p:txBody>
      </p:sp>
      <p:sp>
        <p:nvSpPr>
          <p:cNvPr id="78" name="Google Shape;78;p14"/>
          <p:cNvSpPr txBox="1"/>
          <p:nvPr/>
        </p:nvSpPr>
        <p:spPr>
          <a:xfrm>
            <a:off x="365760" y="1920240"/>
            <a:ext cx="3977700" cy="822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500">
                <a:solidFill>
                  <a:srgbClr val="1F1D1A"/>
                </a:solidFill>
                <a:latin typeface="IBM Plex Sans"/>
                <a:ea typeface="IBM Plex Sans"/>
                <a:cs typeface="IBM Plex Sans"/>
                <a:sym typeface="IBM Plex Sans"/>
              </a:rPr>
              <a:t>Students living off campus, paying rent, bills and subscriptions for the first time on a part-time paycheck.</a:t>
            </a:r>
            <a:endParaRPr sz="1500">
              <a:solidFill>
                <a:srgbClr val="1F1D1A"/>
              </a:solidFill>
              <a:latin typeface="IBM Plex Sans"/>
              <a:ea typeface="IBM Plex Sans"/>
              <a:cs typeface="IBM Plex Sans"/>
              <a:sym typeface="IBM Plex Sans"/>
            </a:endParaRPr>
          </a:p>
        </p:txBody>
      </p:sp>
      <p:sp>
        <p:nvSpPr>
          <p:cNvPr id="79" name="Google Shape;79;p14"/>
          <p:cNvSpPr txBox="1"/>
          <p:nvPr/>
        </p:nvSpPr>
        <p:spPr>
          <a:xfrm>
            <a:off x="365760" y="2743200"/>
            <a:ext cx="39777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WHAT IT HAS TO DO</a:t>
            </a:r>
            <a:endParaRPr sz="1000">
              <a:solidFill>
                <a:srgbClr val="B4532A"/>
              </a:solidFill>
              <a:latin typeface="IBM Plex Mono Medium"/>
              <a:ea typeface="IBM Plex Mono Medium"/>
              <a:cs typeface="IBM Plex Mono Medium"/>
              <a:sym typeface="IBM Plex Mono Medium"/>
            </a:endParaRPr>
          </a:p>
        </p:txBody>
      </p:sp>
      <p:sp>
        <p:nvSpPr>
          <p:cNvPr id="80" name="Google Shape;80;p14"/>
          <p:cNvSpPr txBox="1"/>
          <p:nvPr/>
        </p:nvSpPr>
        <p:spPr>
          <a:xfrm>
            <a:off x="365760" y="2962656"/>
            <a:ext cx="3977700" cy="9144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1500">
                <a:solidFill>
                  <a:srgbClr val="6B655C"/>
                </a:solidFill>
                <a:latin typeface="IBM Plex Mono"/>
                <a:ea typeface="IBM Plex Mono"/>
                <a:cs typeface="IBM Plex Mono"/>
                <a:sym typeface="IBM Plex Mono"/>
              </a:rPr>
              <a:t>1</a:t>
            </a:r>
            <a:r>
              <a:rPr lang="en" sz="1500">
                <a:solidFill>
                  <a:srgbClr val="1F1D1A"/>
                </a:solidFill>
                <a:latin typeface="IBM Plex Sans"/>
                <a:ea typeface="IBM Plex Sans"/>
                <a:cs typeface="IBM Plex Sans"/>
                <a:sym typeface="IBM Plex Sans"/>
              </a:rPr>
              <a:t>   Name the category of every charge</a:t>
            </a:r>
            <a:endParaRPr sz="1500">
              <a:solidFill>
                <a:srgbClr val="1F1D1A"/>
              </a:solidFill>
              <a:latin typeface="IBM Plex Sans"/>
              <a:ea typeface="IBM Plex Sans"/>
              <a:cs typeface="IBM Plex Sans"/>
              <a:sym typeface="IBM Plex Sans"/>
            </a:endParaRPr>
          </a:p>
          <a:p>
            <a:pPr indent="0" lvl="0" marL="0" rtl="0" algn="l">
              <a:lnSpc>
                <a:spcPct val="125000"/>
              </a:lnSpc>
              <a:spcBef>
                <a:spcPts val="0"/>
              </a:spcBef>
              <a:spcAft>
                <a:spcPts val="0"/>
              </a:spcAft>
              <a:buNone/>
            </a:pPr>
            <a:r>
              <a:rPr lang="en" sz="1500">
                <a:solidFill>
                  <a:srgbClr val="6B655C"/>
                </a:solidFill>
                <a:latin typeface="IBM Plex Mono"/>
                <a:ea typeface="IBM Plex Mono"/>
                <a:cs typeface="IBM Plex Mono"/>
                <a:sym typeface="IBM Plex Mono"/>
              </a:rPr>
              <a:t>2</a:t>
            </a:r>
            <a:r>
              <a:rPr lang="en" sz="1500">
                <a:solidFill>
                  <a:srgbClr val="1F1D1A"/>
                </a:solidFill>
                <a:latin typeface="IBM Plex Sans"/>
                <a:ea typeface="IBM Plex Sans"/>
                <a:cs typeface="IBM Plex Sans"/>
                <a:sym typeface="IBM Plex Sans"/>
              </a:rPr>
              <a:t>   Find the recurring bills</a:t>
            </a:r>
            <a:endParaRPr sz="1500">
              <a:solidFill>
                <a:srgbClr val="1F1D1A"/>
              </a:solidFill>
              <a:latin typeface="IBM Plex Sans"/>
              <a:ea typeface="IBM Plex Sans"/>
              <a:cs typeface="IBM Plex Sans"/>
              <a:sym typeface="IBM Plex Sans"/>
            </a:endParaRPr>
          </a:p>
          <a:p>
            <a:pPr indent="0" lvl="0" marL="0" rtl="0" algn="l">
              <a:lnSpc>
                <a:spcPct val="125000"/>
              </a:lnSpc>
              <a:spcBef>
                <a:spcPts val="0"/>
              </a:spcBef>
              <a:spcAft>
                <a:spcPts val="0"/>
              </a:spcAft>
              <a:buNone/>
            </a:pPr>
            <a:r>
              <a:rPr lang="en" sz="1500">
                <a:solidFill>
                  <a:srgbClr val="6B655C"/>
                </a:solidFill>
                <a:latin typeface="IBM Plex Mono"/>
                <a:ea typeface="IBM Plex Mono"/>
                <a:cs typeface="IBM Plex Mono"/>
                <a:sym typeface="IBM Plex Mono"/>
              </a:rPr>
              <a:t>3</a:t>
            </a:r>
            <a:r>
              <a:rPr lang="en" sz="1500">
                <a:solidFill>
                  <a:srgbClr val="1F1D1A"/>
                </a:solidFill>
                <a:latin typeface="IBM Plex Sans"/>
                <a:ea typeface="IBM Plex Sans"/>
                <a:cs typeface="IBM Plex Sans"/>
                <a:sym typeface="IBM Plex Sans"/>
              </a:rPr>
              <a:t>   Suggest a budget they can keep</a:t>
            </a:r>
            <a:endParaRPr sz="1500">
              <a:solidFill>
                <a:srgbClr val="1F1D1A"/>
              </a:solidFill>
              <a:latin typeface="IBM Plex Sans"/>
              <a:ea typeface="IBM Plex Sans"/>
              <a:cs typeface="IBM Plex Sans"/>
              <a:sym typeface="IBM Plex Sans"/>
            </a:endParaRPr>
          </a:p>
        </p:txBody>
      </p:sp>
      <p:sp>
        <p:nvSpPr>
          <p:cNvPr id="81" name="Google Shape;81;p14"/>
          <p:cNvSpPr txBox="1"/>
          <p:nvPr/>
        </p:nvSpPr>
        <p:spPr>
          <a:xfrm>
            <a:off x="365760" y="3950208"/>
            <a:ext cx="39777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WHAT IT CAN'T GET WRONG</a:t>
            </a:r>
            <a:endParaRPr sz="1000">
              <a:solidFill>
                <a:srgbClr val="B4532A"/>
              </a:solidFill>
              <a:latin typeface="IBM Plex Mono Medium"/>
              <a:ea typeface="IBM Plex Mono Medium"/>
              <a:cs typeface="IBM Plex Mono Medium"/>
              <a:sym typeface="IBM Plex Mono Medium"/>
            </a:endParaRPr>
          </a:p>
        </p:txBody>
      </p:sp>
      <p:graphicFrame>
        <p:nvGraphicFramePr>
          <p:cNvPr id="82" name="Google Shape;82;p14"/>
          <p:cNvGraphicFramePr/>
          <p:nvPr/>
        </p:nvGraphicFramePr>
        <p:xfrm>
          <a:off x="4663440" y="1700784"/>
          <a:ext cx="3000000" cy="3000000"/>
        </p:xfrm>
        <a:graphic>
          <a:graphicData uri="http://schemas.openxmlformats.org/drawingml/2006/table">
            <a:tbl>
              <a:tblPr>
                <a:noFill/>
                <a:tableStyleId>{6BB2B7B9-42E6-43CC-AF5A-983BCAD63E53}</a:tableStyleId>
              </a:tblPr>
              <a:tblGrid>
                <a:gridCol w="2057400"/>
                <a:gridCol w="1965950"/>
              </a:tblGrid>
              <a:tr h="310875">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On the statement</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What it was</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r>
              <a:tr h="402325">
                <a:tc>
                  <a:txBody>
                    <a:bodyPr/>
                    <a:lstStyle/>
                    <a:p>
                      <a:pPr indent="0" lvl="0" marL="0" rtl="0" algn="l">
                        <a:spcBef>
                          <a:spcPts val="0"/>
                        </a:spcBef>
                        <a:spcAft>
                          <a:spcPts val="0"/>
                        </a:spcAft>
                        <a:buNone/>
                      </a:pPr>
                      <a:r>
                        <a:rPr lang="en" sz="1150">
                          <a:solidFill>
                            <a:srgbClr val="1F1D1A"/>
                          </a:solidFill>
                          <a:latin typeface="IBM Plex Mono"/>
                          <a:ea typeface="IBM Plex Mono"/>
                          <a:cs typeface="IBM Plex Mono"/>
                          <a:sym typeface="IBM Plex Mono"/>
                        </a:rPr>
                        <a:t>SQ *KOPI KOPI TROY NY</a:t>
                      </a:r>
                      <a:endParaRPr sz="115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Coffee shop</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r>
              <a:tr h="402325">
                <a:tc>
                  <a:txBody>
                    <a:bodyPr/>
                    <a:lstStyle/>
                    <a:p>
                      <a:pPr indent="0" lvl="0" marL="0" rtl="0" algn="l">
                        <a:spcBef>
                          <a:spcPts val="0"/>
                        </a:spcBef>
                        <a:spcAft>
                          <a:spcPts val="0"/>
                        </a:spcAft>
                        <a:buNone/>
                      </a:pPr>
                      <a:r>
                        <a:rPr lang="en" sz="1150">
                          <a:solidFill>
                            <a:srgbClr val="1F1D1A"/>
                          </a:solidFill>
                          <a:latin typeface="IBM Plex Mono"/>
                          <a:ea typeface="IBM Plex Mono"/>
                          <a:cs typeface="IBM Plex Mono"/>
                          <a:sym typeface="IBM Plex Mono"/>
                        </a:rPr>
                        <a:t>PLANET FIT CLUB FEES</a:t>
                      </a:r>
                      <a:endParaRPr sz="115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Gym membership</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02325">
                <a:tc>
                  <a:txBody>
                    <a:bodyPr/>
                    <a:lstStyle/>
                    <a:p>
                      <a:pPr indent="0" lvl="0" marL="0" rtl="0" algn="l">
                        <a:spcBef>
                          <a:spcPts val="0"/>
                        </a:spcBef>
                        <a:spcAft>
                          <a:spcPts val="0"/>
                        </a:spcAft>
                        <a:buNone/>
                      </a:pPr>
                      <a:r>
                        <a:rPr lang="en" sz="1150">
                          <a:solidFill>
                            <a:srgbClr val="1F1D1A"/>
                          </a:solidFill>
                          <a:latin typeface="IBM Plex Mono"/>
                          <a:ea typeface="IBM Plex Mono"/>
                          <a:cs typeface="IBM Plex Mono"/>
                          <a:sym typeface="IBM Plex Mono"/>
                        </a:rPr>
                        <a:t>DOORDASH*DASHPASS</a:t>
                      </a:r>
                      <a:endParaRPr sz="115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Delivery subscription</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02325">
                <a:tc>
                  <a:txBody>
                    <a:bodyPr/>
                    <a:lstStyle/>
                    <a:p>
                      <a:pPr indent="0" lvl="0" marL="0" rtl="0" algn="l">
                        <a:spcBef>
                          <a:spcPts val="0"/>
                        </a:spcBef>
                        <a:spcAft>
                          <a:spcPts val="0"/>
                        </a:spcAft>
                        <a:buNone/>
                      </a:pPr>
                      <a:r>
                        <a:rPr lang="en" sz="1150">
                          <a:solidFill>
                            <a:srgbClr val="1F1D1A"/>
                          </a:solidFill>
                          <a:latin typeface="IBM Plex Mono"/>
                          <a:ea typeface="IBM Plex Mono"/>
                          <a:cs typeface="IBM Plex Mono"/>
                          <a:sym typeface="IBM Plex Mono"/>
                        </a:rPr>
                        <a:t>STEWARTS SHOP 345</a:t>
                      </a:r>
                      <a:endParaRPr sz="115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Gas or ice cream</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02325">
                <a:tc>
                  <a:txBody>
                    <a:bodyPr/>
                    <a:lstStyle/>
                    <a:p>
                      <a:pPr indent="0" lvl="0" marL="0" rtl="0" algn="l">
                        <a:spcBef>
                          <a:spcPts val="0"/>
                        </a:spcBef>
                        <a:spcAft>
                          <a:spcPts val="0"/>
                        </a:spcAft>
                        <a:buNone/>
                      </a:pPr>
                      <a:r>
                        <a:rPr lang="en" sz="1150">
                          <a:solidFill>
                            <a:srgbClr val="1F1D1A"/>
                          </a:solidFill>
                          <a:latin typeface="IBM Plex Mono"/>
                          <a:ea typeface="IBM Plex Mono"/>
                          <a:cs typeface="IBM Plex Mono"/>
                          <a:sym typeface="IBM Plex Mono"/>
                        </a:rPr>
                        <a:t>TARGET T-1849</a:t>
                      </a:r>
                      <a:endParaRPr sz="115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Food or home goods</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bl>
          </a:graphicData>
        </a:graphic>
      </p:graphicFrame>
      <p:sp>
        <p:nvSpPr>
          <p:cNvPr id="83" name="Google Shape;83;p14"/>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To budget, a student first has to figure out what </a:t>
            </a:r>
            <a:r>
              <a:rPr lang="en" sz="2500">
                <a:solidFill>
                  <a:srgbClr val="1F1D1A"/>
                </a:solidFill>
                <a:latin typeface="IBM Plex Mono Medium"/>
                <a:ea typeface="IBM Plex Mono Medium"/>
                <a:cs typeface="IBM Plex Mono Medium"/>
                <a:sym typeface="IBM Plex Mono Medium"/>
              </a:rPr>
              <a:t>SQ *KOPI KOPI</a:t>
            </a:r>
            <a:r>
              <a:rPr lang="en" sz="2800">
                <a:solidFill>
                  <a:srgbClr val="1F1D1A"/>
                </a:solidFill>
                <a:latin typeface="IBM Plex Serif SemiBold"/>
                <a:ea typeface="IBM Plex Serif SemiBold"/>
                <a:cs typeface="IBM Plex Serif SemiBold"/>
                <a:sym typeface="IBM Plex Serif SemiBold"/>
              </a:rPr>
              <a:t> is</a:t>
            </a:r>
            <a:endParaRPr sz="2800">
              <a:solidFill>
                <a:srgbClr val="1F1D1A"/>
              </a:solidFill>
              <a:latin typeface="IBM Plex Serif SemiBold"/>
              <a:ea typeface="IBM Plex Serif SemiBold"/>
              <a:cs typeface="IBM Plex Serif SemiBold"/>
              <a:sym typeface="IBM Plex Serif SemiBold"/>
            </a:endParaRPr>
          </a:p>
        </p:txBody>
      </p:sp>
      <p:sp>
        <p:nvSpPr>
          <p:cNvPr id="84" name="Google Shape;84;p14"/>
          <p:cNvSpPr txBox="1"/>
          <p:nvPr/>
        </p:nvSpPr>
        <p:spPr>
          <a:xfrm>
            <a:off x="4572000" y="4114800"/>
            <a:ext cx="4206300" cy="5028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i="1" lang="en" sz="1300">
                <a:solidFill>
                  <a:srgbClr val="6B655C"/>
                </a:solidFill>
                <a:latin typeface="IBM Plex Sans"/>
                <a:ea typeface="IBM Plex Sans"/>
                <a:cs typeface="IBM Plex Sans"/>
                <a:sym typeface="IBM Plex Sans"/>
              </a:rPr>
              <a:t>For mixed stores like the last two, the same text can mean different purchases.</a:t>
            </a:r>
            <a:endParaRPr i="1" sz="1300">
              <a:solidFill>
                <a:srgbClr val="6B655C"/>
              </a:solidFill>
              <a:latin typeface="IBM Plex Sans"/>
              <a:ea typeface="IBM Plex Sans"/>
              <a:cs typeface="IBM Plex Sans"/>
              <a:sym typeface="IBM Plex Sans"/>
            </a:endParaRPr>
          </a:p>
        </p:txBody>
      </p:sp>
      <p:sp>
        <p:nvSpPr>
          <p:cNvPr id="85" name="Google Shape;85;p14"/>
          <p:cNvSpPr txBox="1"/>
          <p:nvPr/>
        </p:nvSpPr>
        <p:spPr>
          <a:xfrm>
            <a:off x="365760" y="4169664"/>
            <a:ext cx="3977700" cy="530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500">
                <a:solidFill>
                  <a:srgbClr val="1F1D1A"/>
                </a:solidFill>
                <a:latin typeface="IBM Plex Sans Medium"/>
                <a:ea typeface="IBM Plex Sans Medium"/>
                <a:cs typeface="IBM Plex Sans Medium"/>
                <a:sym typeface="IBM Plex Sans Medium"/>
              </a:rPr>
              <a:t>Every dollar total has to be exact.</a:t>
            </a:r>
            <a:endParaRPr sz="1500">
              <a:solidFill>
                <a:srgbClr val="1F1D1A"/>
              </a:solidFill>
              <a:latin typeface="IBM Plex Sans Medium"/>
              <a:ea typeface="IBM Plex Sans Medium"/>
              <a:cs typeface="IBM Plex Sans Medium"/>
              <a:sym typeface="IBM Plex Sans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89" name="Shape 89"/>
        <p:cNvGrpSpPr/>
        <p:nvPr/>
      </p:nvGrpSpPr>
      <p:grpSpPr>
        <a:xfrm>
          <a:off x="0" y="0"/>
          <a:ext cx="0" cy="0"/>
          <a:chOff x="0" y="0"/>
          <a:chExt cx="0" cy="0"/>
        </a:xfrm>
      </p:grpSpPr>
      <p:sp>
        <p:nvSpPr>
          <p:cNvPr id="90" name="Google Shape;90;p15"/>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03</a:t>
            </a:r>
            <a:endParaRPr sz="900">
              <a:solidFill>
                <a:srgbClr val="9A9285"/>
              </a:solidFill>
              <a:latin typeface="IBM Plex Mono"/>
              <a:ea typeface="IBM Plex Mono"/>
              <a:cs typeface="IBM Plex Mono"/>
              <a:sym typeface="IBM Plex Mono"/>
            </a:endParaRPr>
          </a:p>
        </p:txBody>
      </p:sp>
      <p:sp>
        <p:nvSpPr>
          <p:cNvPr id="91" name="Google Shape;91;p15"/>
          <p:cNvSpPr/>
          <p:nvPr/>
        </p:nvSpPr>
        <p:spPr>
          <a:xfrm>
            <a:off x="457200" y="1700784"/>
            <a:ext cx="1051500" cy="15546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2" name="Google Shape;92;p15"/>
          <p:cNvSpPr txBox="1"/>
          <p:nvPr/>
        </p:nvSpPr>
        <p:spPr>
          <a:xfrm>
            <a:off x="493776" y="1810512"/>
            <a:ext cx="9783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rgbClr val="6B655C"/>
                </a:solidFill>
                <a:latin typeface="IBM Plex Mono SemiBold"/>
                <a:ea typeface="IBM Plex Mono SemiBold"/>
                <a:cs typeface="IBM Plex Mono SemiBold"/>
                <a:sym typeface="IBM Plex Mono SemiBold"/>
              </a:rPr>
              <a:t>INPUT</a:t>
            </a:r>
            <a:endParaRPr sz="950">
              <a:solidFill>
                <a:srgbClr val="6B655C"/>
              </a:solidFill>
              <a:latin typeface="IBM Plex Mono SemiBold"/>
              <a:ea typeface="IBM Plex Mono SemiBold"/>
              <a:cs typeface="IBM Plex Mono SemiBold"/>
              <a:sym typeface="IBM Plex Mono SemiBold"/>
            </a:endParaRPr>
          </a:p>
        </p:txBody>
      </p:sp>
      <p:sp>
        <p:nvSpPr>
          <p:cNvPr id="93" name="Google Shape;93;p15"/>
          <p:cNvSpPr txBox="1"/>
          <p:nvPr/>
        </p:nvSpPr>
        <p:spPr>
          <a:xfrm>
            <a:off x="493775" y="2029975"/>
            <a:ext cx="11157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D1A"/>
                </a:solidFill>
                <a:latin typeface="IBM Plex Sans SemiBold"/>
                <a:ea typeface="IBM Plex Sans SemiBold"/>
                <a:cs typeface="IBM Plex Sans SemiBold"/>
                <a:sym typeface="IBM Plex Sans SemiBold"/>
              </a:rPr>
              <a:t>Bank CSV</a:t>
            </a:r>
            <a:endParaRPr>
              <a:solidFill>
                <a:srgbClr val="1F1D1A"/>
              </a:solidFill>
              <a:latin typeface="IBM Plex Sans SemiBold"/>
              <a:ea typeface="IBM Plex Sans SemiBold"/>
              <a:cs typeface="IBM Plex Sans SemiBold"/>
              <a:sym typeface="IBM Plex Sans SemiBold"/>
            </a:endParaRPr>
          </a:p>
        </p:txBody>
      </p:sp>
      <p:sp>
        <p:nvSpPr>
          <p:cNvPr id="94" name="Google Shape;94;p15"/>
          <p:cNvSpPr txBox="1"/>
          <p:nvPr/>
        </p:nvSpPr>
        <p:spPr>
          <a:xfrm>
            <a:off x="493776" y="2359152"/>
            <a:ext cx="978300" cy="73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6B655C"/>
                </a:solidFill>
                <a:latin typeface="IBM Plex Sans"/>
                <a:ea typeface="IBM Plex Sans"/>
                <a:cs typeface="IBM Plex Sans"/>
                <a:sym typeface="IBM Plex Sans"/>
              </a:rPr>
              <a:t>date, text, amount</a:t>
            </a:r>
            <a:endParaRPr sz="1200">
              <a:solidFill>
                <a:srgbClr val="6B655C"/>
              </a:solidFill>
              <a:latin typeface="IBM Plex Sans"/>
              <a:ea typeface="IBM Plex Sans"/>
              <a:cs typeface="IBM Plex Sans"/>
              <a:sym typeface="IBM Plex Sans"/>
            </a:endParaRPr>
          </a:p>
        </p:txBody>
      </p:sp>
      <p:sp>
        <p:nvSpPr>
          <p:cNvPr id="95" name="Google Shape;95;p15"/>
          <p:cNvSpPr/>
          <p:nvPr/>
        </p:nvSpPr>
        <p:spPr>
          <a:xfrm>
            <a:off x="1691640" y="1700784"/>
            <a:ext cx="1188600" cy="15546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6" name="Google Shape;96;p15"/>
          <p:cNvSpPr txBox="1"/>
          <p:nvPr/>
        </p:nvSpPr>
        <p:spPr>
          <a:xfrm>
            <a:off x="1728216" y="1810512"/>
            <a:ext cx="11157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rgbClr val="1F1D1A"/>
                </a:solidFill>
                <a:latin typeface="IBM Plex Mono SemiBold"/>
                <a:ea typeface="IBM Plex Mono SemiBold"/>
                <a:cs typeface="IBM Plex Mono SemiBold"/>
                <a:sym typeface="IBM Plex Mono SemiBold"/>
              </a:rPr>
              <a:t>CODE</a:t>
            </a:r>
            <a:endParaRPr sz="950">
              <a:solidFill>
                <a:srgbClr val="1F1D1A"/>
              </a:solidFill>
              <a:latin typeface="IBM Plex Mono SemiBold"/>
              <a:ea typeface="IBM Plex Mono SemiBold"/>
              <a:cs typeface="IBM Plex Mono SemiBold"/>
              <a:sym typeface="IBM Plex Mono SemiBold"/>
            </a:endParaRPr>
          </a:p>
        </p:txBody>
      </p:sp>
      <p:sp>
        <p:nvSpPr>
          <p:cNvPr id="97" name="Google Shape;97;p15"/>
          <p:cNvSpPr txBox="1"/>
          <p:nvPr/>
        </p:nvSpPr>
        <p:spPr>
          <a:xfrm>
            <a:off x="1728216" y="2029968"/>
            <a:ext cx="11157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D1A"/>
                </a:solidFill>
                <a:latin typeface="IBM Plex Sans SemiBold"/>
                <a:ea typeface="IBM Plex Sans SemiBold"/>
                <a:cs typeface="IBM Plex Sans SemiBold"/>
                <a:sym typeface="IBM Plex Sans SemiBold"/>
              </a:rPr>
              <a:t>Clean up</a:t>
            </a:r>
            <a:endParaRPr>
              <a:solidFill>
                <a:srgbClr val="1F1D1A"/>
              </a:solidFill>
              <a:latin typeface="IBM Plex Sans SemiBold"/>
              <a:ea typeface="IBM Plex Sans SemiBold"/>
              <a:cs typeface="IBM Plex Sans SemiBold"/>
              <a:sym typeface="IBM Plex Sans SemiBold"/>
            </a:endParaRPr>
          </a:p>
        </p:txBody>
      </p:sp>
      <p:sp>
        <p:nvSpPr>
          <p:cNvPr id="98" name="Google Shape;98;p15"/>
          <p:cNvSpPr txBox="1"/>
          <p:nvPr/>
        </p:nvSpPr>
        <p:spPr>
          <a:xfrm>
            <a:off x="1728216" y="2359152"/>
            <a:ext cx="1115700" cy="73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6B655C"/>
                </a:solidFill>
                <a:latin typeface="IBM Plex Sans"/>
                <a:ea typeface="IBM Plex Sans"/>
                <a:cs typeface="IBM Plex Sans"/>
                <a:sym typeface="IBM Plex Sans"/>
              </a:rPr>
              <a:t>strip codes and store numbers</a:t>
            </a:r>
            <a:endParaRPr sz="1200">
              <a:solidFill>
                <a:srgbClr val="6B655C"/>
              </a:solidFill>
              <a:latin typeface="IBM Plex Sans"/>
              <a:ea typeface="IBM Plex Sans"/>
              <a:cs typeface="IBM Plex Sans"/>
              <a:sym typeface="IBM Plex Sans"/>
            </a:endParaRPr>
          </a:p>
        </p:txBody>
      </p:sp>
      <p:sp>
        <p:nvSpPr>
          <p:cNvPr id="99" name="Google Shape;99;p15"/>
          <p:cNvSpPr/>
          <p:nvPr/>
        </p:nvSpPr>
        <p:spPr>
          <a:xfrm>
            <a:off x="3063240" y="1700784"/>
            <a:ext cx="2743200" cy="15546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0" name="Google Shape;100;p15"/>
          <p:cNvSpPr/>
          <p:nvPr/>
        </p:nvSpPr>
        <p:spPr>
          <a:xfrm>
            <a:off x="5989320" y="1700784"/>
            <a:ext cx="1280100" cy="15546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1" name="Google Shape;101;p15"/>
          <p:cNvSpPr txBox="1"/>
          <p:nvPr/>
        </p:nvSpPr>
        <p:spPr>
          <a:xfrm>
            <a:off x="6025896" y="1810512"/>
            <a:ext cx="12069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rgbClr val="1F1D1A"/>
                </a:solidFill>
                <a:latin typeface="IBM Plex Mono SemiBold"/>
                <a:ea typeface="IBM Plex Mono SemiBold"/>
                <a:cs typeface="IBM Plex Mono SemiBold"/>
                <a:sym typeface="IBM Plex Mono SemiBold"/>
              </a:rPr>
              <a:t>CODE</a:t>
            </a:r>
            <a:endParaRPr sz="950">
              <a:solidFill>
                <a:srgbClr val="1F1D1A"/>
              </a:solidFill>
              <a:latin typeface="IBM Plex Mono SemiBold"/>
              <a:ea typeface="IBM Plex Mono SemiBold"/>
              <a:cs typeface="IBM Plex Mono SemiBold"/>
              <a:sym typeface="IBM Plex Mono SemiBold"/>
            </a:endParaRPr>
          </a:p>
        </p:txBody>
      </p:sp>
      <p:sp>
        <p:nvSpPr>
          <p:cNvPr id="102" name="Google Shape;102;p15"/>
          <p:cNvSpPr txBox="1"/>
          <p:nvPr/>
        </p:nvSpPr>
        <p:spPr>
          <a:xfrm>
            <a:off x="6025896" y="2029968"/>
            <a:ext cx="12069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D1A"/>
                </a:solidFill>
                <a:latin typeface="IBM Plex Sans SemiBold"/>
                <a:ea typeface="IBM Plex Sans SemiBold"/>
                <a:cs typeface="IBM Plex Sans SemiBold"/>
                <a:sym typeface="IBM Plex Sans SemiBold"/>
              </a:rPr>
              <a:t>Compute</a:t>
            </a:r>
            <a:endParaRPr>
              <a:solidFill>
                <a:srgbClr val="1F1D1A"/>
              </a:solidFill>
              <a:latin typeface="IBM Plex Sans SemiBold"/>
              <a:ea typeface="IBM Plex Sans SemiBold"/>
              <a:cs typeface="IBM Plex Sans SemiBold"/>
              <a:sym typeface="IBM Plex Sans SemiBold"/>
            </a:endParaRPr>
          </a:p>
        </p:txBody>
      </p:sp>
      <p:sp>
        <p:nvSpPr>
          <p:cNvPr id="103" name="Google Shape;103;p15"/>
          <p:cNvSpPr txBox="1"/>
          <p:nvPr/>
        </p:nvSpPr>
        <p:spPr>
          <a:xfrm>
            <a:off x="6025896" y="2359152"/>
            <a:ext cx="1206900" cy="73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6B655C"/>
                </a:solidFill>
                <a:latin typeface="IBM Plex Sans"/>
                <a:ea typeface="IBM Plex Sans"/>
                <a:cs typeface="IBM Plex Sans"/>
                <a:sym typeface="IBM Plex Sans"/>
              </a:rPr>
              <a:t>totals, bills, budget math</a:t>
            </a:r>
            <a:endParaRPr sz="1200">
              <a:solidFill>
                <a:srgbClr val="6B655C"/>
              </a:solidFill>
              <a:latin typeface="IBM Plex Sans"/>
              <a:ea typeface="IBM Plex Sans"/>
              <a:cs typeface="IBM Plex Sans"/>
              <a:sym typeface="IBM Plex Sans"/>
            </a:endParaRPr>
          </a:p>
        </p:txBody>
      </p:sp>
      <p:sp>
        <p:nvSpPr>
          <p:cNvPr id="104" name="Google Shape;104;p15"/>
          <p:cNvSpPr/>
          <p:nvPr/>
        </p:nvSpPr>
        <p:spPr>
          <a:xfrm>
            <a:off x="7452360" y="1700784"/>
            <a:ext cx="1234500" cy="15546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5" name="Google Shape;105;p15"/>
          <p:cNvSpPr txBox="1"/>
          <p:nvPr/>
        </p:nvSpPr>
        <p:spPr>
          <a:xfrm>
            <a:off x="7488936" y="1810512"/>
            <a:ext cx="11613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rgbClr val="2F6B4F"/>
                </a:solidFill>
                <a:latin typeface="IBM Plex Mono SemiBold"/>
                <a:ea typeface="IBM Plex Mono SemiBold"/>
                <a:cs typeface="IBM Plex Mono SemiBold"/>
                <a:sym typeface="IBM Plex Mono SemiBold"/>
              </a:rPr>
              <a:t>LLM</a:t>
            </a:r>
            <a:endParaRPr sz="950">
              <a:solidFill>
                <a:srgbClr val="2F6B4F"/>
              </a:solidFill>
              <a:latin typeface="IBM Plex Mono SemiBold"/>
              <a:ea typeface="IBM Plex Mono SemiBold"/>
              <a:cs typeface="IBM Plex Mono SemiBold"/>
              <a:sym typeface="IBM Plex Mono SemiBold"/>
            </a:endParaRPr>
          </a:p>
        </p:txBody>
      </p:sp>
      <p:sp>
        <p:nvSpPr>
          <p:cNvPr id="106" name="Google Shape;106;p15"/>
          <p:cNvSpPr txBox="1"/>
          <p:nvPr/>
        </p:nvSpPr>
        <p:spPr>
          <a:xfrm>
            <a:off x="7488936" y="2029968"/>
            <a:ext cx="11613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D1A"/>
                </a:solidFill>
                <a:latin typeface="IBM Plex Sans SemiBold"/>
                <a:ea typeface="IBM Plex Sans SemiBold"/>
                <a:cs typeface="IBM Plex Sans SemiBold"/>
                <a:sym typeface="IBM Plex Sans SemiBold"/>
              </a:rPr>
              <a:t>Explain</a:t>
            </a:r>
            <a:endParaRPr>
              <a:solidFill>
                <a:srgbClr val="1F1D1A"/>
              </a:solidFill>
              <a:latin typeface="IBM Plex Sans SemiBold"/>
              <a:ea typeface="IBM Plex Sans SemiBold"/>
              <a:cs typeface="IBM Plex Sans SemiBold"/>
              <a:sym typeface="IBM Plex Sans SemiBold"/>
            </a:endParaRPr>
          </a:p>
        </p:txBody>
      </p:sp>
      <p:sp>
        <p:nvSpPr>
          <p:cNvPr id="107" name="Google Shape;107;p15"/>
          <p:cNvSpPr txBox="1"/>
          <p:nvPr/>
        </p:nvSpPr>
        <p:spPr>
          <a:xfrm>
            <a:off x="7488936" y="2359152"/>
            <a:ext cx="1161300" cy="73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6B655C"/>
                </a:solidFill>
                <a:latin typeface="IBM Plex Sans"/>
                <a:ea typeface="IBM Plex Sans"/>
                <a:cs typeface="IBM Plex Sans"/>
                <a:sym typeface="IBM Plex Sans"/>
              </a:rPr>
              <a:t>sums up our numbers in words</a:t>
            </a:r>
            <a:endParaRPr sz="1200">
              <a:solidFill>
                <a:srgbClr val="6B655C"/>
              </a:solidFill>
              <a:latin typeface="IBM Plex Sans"/>
              <a:ea typeface="IBM Plex Sans"/>
              <a:cs typeface="IBM Plex Sans"/>
              <a:sym typeface="IBM Plex Sans"/>
            </a:endParaRPr>
          </a:p>
        </p:txBody>
      </p:sp>
      <p:sp>
        <p:nvSpPr>
          <p:cNvPr id="108" name="Google Shape;108;p15"/>
          <p:cNvSpPr txBox="1"/>
          <p:nvPr/>
        </p:nvSpPr>
        <p:spPr>
          <a:xfrm>
            <a:off x="3099816" y="1810512"/>
            <a:ext cx="26700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50">
                <a:solidFill>
                  <a:srgbClr val="B4532A"/>
                </a:solidFill>
                <a:latin typeface="IBM Plex Mono SemiBold"/>
                <a:ea typeface="IBM Plex Mono SemiBold"/>
                <a:cs typeface="IBM Plex Mono SemiBold"/>
                <a:sym typeface="IBM Plex Mono SemiBold"/>
              </a:rPr>
              <a:t>STUDENT + </a:t>
            </a:r>
            <a:r>
              <a:rPr lang="en" sz="950">
                <a:solidFill>
                  <a:srgbClr val="2F6B4F"/>
                </a:solidFill>
                <a:latin typeface="IBM Plex Mono SemiBold"/>
                <a:ea typeface="IBM Plex Mono SemiBold"/>
                <a:cs typeface="IBM Plex Mono SemiBold"/>
                <a:sym typeface="IBM Plex Mono SemiBold"/>
              </a:rPr>
              <a:t>LLM</a:t>
            </a:r>
            <a:endParaRPr sz="950">
              <a:solidFill>
                <a:srgbClr val="2F6B4F"/>
              </a:solidFill>
              <a:latin typeface="IBM Plex Mono SemiBold"/>
              <a:ea typeface="IBM Plex Mono SemiBold"/>
              <a:cs typeface="IBM Plex Mono SemiBold"/>
              <a:sym typeface="IBM Plex Mono SemiBold"/>
            </a:endParaRPr>
          </a:p>
        </p:txBody>
      </p:sp>
      <p:sp>
        <p:nvSpPr>
          <p:cNvPr id="109" name="Google Shape;109;p15"/>
          <p:cNvSpPr txBox="1"/>
          <p:nvPr/>
        </p:nvSpPr>
        <p:spPr>
          <a:xfrm>
            <a:off x="3099816" y="2029968"/>
            <a:ext cx="2670000" cy="29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solidFill>
                  <a:srgbClr val="1F1D1A"/>
                </a:solidFill>
                <a:latin typeface="IBM Plex Sans SemiBold"/>
                <a:ea typeface="IBM Plex Sans SemiBold"/>
                <a:cs typeface="IBM Plex Sans SemiBold"/>
                <a:sym typeface="IBM Plex Sans SemiBold"/>
              </a:rPr>
              <a:t>Categorize</a:t>
            </a:r>
            <a:endParaRPr>
              <a:solidFill>
                <a:srgbClr val="1F1D1A"/>
              </a:solidFill>
              <a:latin typeface="IBM Plex Sans SemiBold"/>
              <a:ea typeface="IBM Plex Sans SemiBold"/>
              <a:cs typeface="IBM Plex Sans SemiBold"/>
              <a:sym typeface="IBM Plex Sans SemiBold"/>
            </a:endParaRPr>
          </a:p>
        </p:txBody>
      </p:sp>
      <p:cxnSp>
        <p:nvCxnSpPr>
          <p:cNvPr id="110" name="Google Shape;110;p15"/>
          <p:cNvCxnSpPr/>
          <p:nvPr/>
        </p:nvCxnSpPr>
        <p:spPr>
          <a:xfrm>
            <a:off x="1536192" y="2478024"/>
            <a:ext cx="128100" cy="12600"/>
          </a:xfrm>
          <a:prstGeom prst="straightConnector1">
            <a:avLst/>
          </a:prstGeom>
          <a:noFill/>
          <a:ln cap="flat" cmpd="sng" w="15875">
            <a:solidFill>
              <a:srgbClr val="1F1D1A"/>
            </a:solidFill>
            <a:prstDash val="solid"/>
            <a:round/>
            <a:headEnd len="med" w="med" type="none"/>
            <a:tailEnd len="med" w="med" type="triangle"/>
          </a:ln>
        </p:spPr>
      </p:cxnSp>
      <p:cxnSp>
        <p:nvCxnSpPr>
          <p:cNvPr id="111" name="Google Shape;111;p15"/>
          <p:cNvCxnSpPr/>
          <p:nvPr/>
        </p:nvCxnSpPr>
        <p:spPr>
          <a:xfrm>
            <a:off x="2907792" y="2478024"/>
            <a:ext cx="128100" cy="12600"/>
          </a:xfrm>
          <a:prstGeom prst="straightConnector1">
            <a:avLst/>
          </a:prstGeom>
          <a:noFill/>
          <a:ln cap="flat" cmpd="sng" w="15875">
            <a:solidFill>
              <a:srgbClr val="1F1D1A"/>
            </a:solidFill>
            <a:prstDash val="solid"/>
            <a:round/>
            <a:headEnd len="med" w="med" type="none"/>
            <a:tailEnd len="med" w="med" type="triangle"/>
          </a:ln>
        </p:spPr>
      </p:cxnSp>
      <p:cxnSp>
        <p:nvCxnSpPr>
          <p:cNvPr id="112" name="Google Shape;112;p15"/>
          <p:cNvCxnSpPr/>
          <p:nvPr/>
        </p:nvCxnSpPr>
        <p:spPr>
          <a:xfrm>
            <a:off x="5833872" y="2478024"/>
            <a:ext cx="128100" cy="12600"/>
          </a:xfrm>
          <a:prstGeom prst="straightConnector1">
            <a:avLst/>
          </a:prstGeom>
          <a:noFill/>
          <a:ln cap="flat" cmpd="sng" w="15875">
            <a:solidFill>
              <a:srgbClr val="1F1D1A"/>
            </a:solidFill>
            <a:prstDash val="solid"/>
            <a:round/>
            <a:headEnd len="med" w="med" type="none"/>
            <a:tailEnd len="med" w="med" type="triangle"/>
          </a:ln>
        </p:spPr>
      </p:cxnSp>
      <p:cxnSp>
        <p:nvCxnSpPr>
          <p:cNvPr id="113" name="Google Shape;113;p15"/>
          <p:cNvCxnSpPr/>
          <p:nvPr/>
        </p:nvCxnSpPr>
        <p:spPr>
          <a:xfrm>
            <a:off x="7296912" y="2478024"/>
            <a:ext cx="128100" cy="12600"/>
          </a:xfrm>
          <a:prstGeom prst="straightConnector1">
            <a:avLst/>
          </a:prstGeom>
          <a:noFill/>
          <a:ln cap="flat" cmpd="sng" w="15875">
            <a:solidFill>
              <a:srgbClr val="1F1D1A"/>
            </a:solidFill>
            <a:prstDash val="solid"/>
            <a:round/>
            <a:headEnd len="med" w="med" type="none"/>
            <a:tailEnd len="med" w="med" type="triangle"/>
          </a:ln>
        </p:spPr>
      </p:cxnSp>
      <p:sp>
        <p:nvSpPr>
          <p:cNvPr id="114" name="Google Shape;114;p15"/>
          <p:cNvSpPr txBox="1"/>
          <p:nvPr/>
        </p:nvSpPr>
        <p:spPr>
          <a:xfrm>
            <a:off x="365760" y="3419856"/>
            <a:ext cx="84126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Medium"/>
                <a:ea typeface="IBM Plex Mono Medium"/>
                <a:cs typeface="IBM Plex Mono Medium"/>
                <a:sym typeface="IBM Plex Mono Medium"/>
              </a:rPr>
              <a:t>WHERE THE MEANING COMES FROM</a:t>
            </a:r>
            <a:endParaRPr sz="1000">
              <a:solidFill>
                <a:srgbClr val="6B655C"/>
              </a:solidFill>
              <a:latin typeface="IBM Plex Mono Medium"/>
              <a:ea typeface="IBM Plex Mono Medium"/>
              <a:cs typeface="IBM Plex Mono Medium"/>
              <a:sym typeface="IBM Plex Mono Medium"/>
            </a:endParaRPr>
          </a:p>
        </p:txBody>
      </p:sp>
      <p:cxnSp>
        <p:nvCxnSpPr>
          <p:cNvPr id="115" name="Google Shape;115;p15"/>
          <p:cNvCxnSpPr/>
          <p:nvPr/>
        </p:nvCxnSpPr>
        <p:spPr>
          <a:xfrm>
            <a:off x="457200" y="3675888"/>
            <a:ext cx="8229600" cy="12600"/>
          </a:xfrm>
          <a:prstGeom prst="straightConnector1">
            <a:avLst/>
          </a:prstGeom>
          <a:noFill/>
          <a:ln cap="flat" cmpd="sng" w="9525">
            <a:solidFill>
              <a:srgbClr val="D3CBBC"/>
            </a:solidFill>
            <a:prstDash val="solid"/>
            <a:round/>
            <a:headEnd len="med" w="med" type="none"/>
            <a:tailEnd len="med" w="med" type="none"/>
          </a:ln>
        </p:spPr>
      </p:cxnSp>
      <p:sp>
        <p:nvSpPr>
          <p:cNvPr id="116" name="Google Shape;116;p15"/>
          <p:cNvSpPr txBox="1"/>
          <p:nvPr/>
        </p:nvSpPr>
        <p:spPr>
          <a:xfrm>
            <a:off x="1600200" y="3749040"/>
            <a:ext cx="1371600" cy="65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1F1D1A"/>
                </a:solidFill>
                <a:latin typeface="IBM Plex Sans"/>
                <a:ea typeface="IBM Plex Sans"/>
                <a:cs typeface="IBM Plex Sans"/>
                <a:sym typeface="IBM Plex Sans"/>
              </a:rPr>
              <a:t>regex patterns we wrote</a:t>
            </a:r>
            <a:endParaRPr sz="1200">
              <a:solidFill>
                <a:srgbClr val="1F1D1A"/>
              </a:solidFill>
              <a:latin typeface="IBM Plex Sans"/>
              <a:ea typeface="IBM Plex Sans"/>
              <a:cs typeface="IBM Plex Sans"/>
              <a:sym typeface="IBM Plex Sans"/>
            </a:endParaRPr>
          </a:p>
        </p:txBody>
      </p:sp>
      <p:sp>
        <p:nvSpPr>
          <p:cNvPr id="117" name="Google Shape;117;p15"/>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02 · SYSTEM MAP</a:t>
            </a:r>
            <a:endParaRPr sz="1000">
              <a:solidFill>
                <a:srgbClr val="6B655C"/>
              </a:solidFill>
              <a:latin typeface="IBM Plex Mono"/>
              <a:ea typeface="IBM Plex Mono"/>
              <a:cs typeface="IBM Plex Mono"/>
              <a:sym typeface="IBM Plex Mono"/>
            </a:endParaRPr>
          </a:p>
          <a:p>
            <a:pPr indent="0" lvl="0" marL="0" rtl="0" algn="l">
              <a:spcBef>
                <a:spcPts val="0"/>
              </a:spcBef>
              <a:spcAft>
                <a:spcPts val="0"/>
              </a:spcAft>
              <a:buNone/>
            </a:pPr>
            <a:r>
              <a:t/>
            </a:r>
            <a:endParaRPr sz="1000">
              <a:solidFill>
                <a:srgbClr val="6B655C"/>
              </a:solidFill>
              <a:latin typeface="IBM Plex Mono"/>
              <a:ea typeface="IBM Plex Mono"/>
              <a:cs typeface="IBM Plex Mono"/>
              <a:sym typeface="IBM Plex Mono"/>
            </a:endParaRPr>
          </a:p>
        </p:txBody>
      </p:sp>
      <p:sp>
        <p:nvSpPr>
          <p:cNvPr id="118" name="Google Shape;118;p15"/>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Code does the math. An LLM sorts charges and asks the student when unsure.</a:t>
            </a:r>
            <a:endParaRPr sz="2800">
              <a:solidFill>
                <a:srgbClr val="1F1D1A"/>
              </a:solidFill>
              <a:latin typeface="IBM Plex Serif SemiBold"/>
              <a:ea typeface="IBM Plex Serif SemiBold"/>
              <a:cs typeface="IBM Plex Serif SemiBold"/>
              <a:sym typeface="IBM Plex Serif SemiBold"/>
            </a:endParaRPr>
          </a:p>
        </p:txBody>
      </p:sp>
      <p:sp>
        <p:nvSpPr>
          <p:cNvPr id="119" name="Google Shape;119;p15"/>
          <p:cNvSpPr txBox="1"/>
          <p:nvPr/>
        </p:nvSpPr>
        <p:spPr>
          <a:xfrm>
            <a:off x="365760" y="3749040"/>
            <a:ext cx="1234500" cy="65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6B655C"/>
                </a:solidFill>
                <a:latin typeface="IBM Plex Sans"/>
                <a:ea typeface="IBM Plex Sans"/>
                <a:cs typeface="IBM Plex Sans"/>
                <a:sym typeface="IBM Plex Sans"/>
              </a:rPr>
              <a:t>the bank's charge text</a:t>
            </a:r>
            <a:endParaRPr sz="1200">
              <a:solidFill>
                <a:srgbClr val="6B655C"/>
              </a:solidFill>
              <a:latin typeface="IBM Plex Sans"/>
              <a:ea typeface="IBM Plex Sans"/>
              <a:cs typeface="IBM Plex Sans"/>
              <a:sym typeface="IBM Plex Sans"/>
            </a:endParaRPr>
          </a:p>
        </p:txBody>
      </p:sp>
      <p:sp>
        <p:nvSpPr>
          <p:cNvPr id="120" name="Google Shape;120;p15"/>
          <p:cNvSpPr txBox="1"/>
          <p:nvPr/>
        </p:nvSpPr>
        <p:spPr>
          <a:xfrm>
            <a:off x="2971800" y="3749040"/>
            <a:ext cx="2926200" cy="65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1F1D1A"/>
                </a:solidFill>
                <a:latin typeface="IBM Plex Sans"/>
                <a:ea typeface="IBM Plex Sans"/>
                <a:cs typeface="IBM Plex Sans"/>
                <a:sym typeface="IBM Plex Sans"/>
              </a:rPr>
              <a:t>our 11 categories, </a:t>
            </a:r>
            <a:r>
              <a:rPr lang="en" sz="1200">
                <a:solidFill>
                  <a:srgbClr val="2F6B4F"/>
                </a:solidFill>
                <a:latin typeface="IBM Plex Sans"/>
                <a:ea typeface="IBM Plex Sans"/>
                <a:cs typeface="IBM Plex Sans"/>
                <a:sym typeface="IBM Plex Sans"/>
              </a:rPr>
              <a:t>what the LLM knows about merchants,</a:t>
            </a:r>
            <a:r>
              <a:rPr lang="en" sz="1200">
                <a:solidFill>
                  <a:srgbClr val="1F1D1A"/>
                </a:solidFill>
                <a:latin typeface="IBM Plex Sans"/>
                <a:ea typeface="IBM Plex Sans"/>
                <a:cs typeface="IBM Plex Sans"/>
                <a:sym typeface="IBM Plex Sans"/>
              </a:rPr>
              <a:t> and </a:t>
            </a:r>
            <a:r>
              <a:rPr lang="en" sz="1200">
                <a:solidFill>
                  <a:srgbClr val="B4532A"/>
                </a:solidFill>
                <a:latin typeface="IBM Plex Sans"/>
                <a:ea typeface="IBM Plex Sans"/>
                <a:cs typeface="IBM Plex Sans"/>
                <a:sym typeface="IBM Plex Sans"/>
              </a:rPr>
              <a:t>the student's answers</a:t>
            </a:r>
            <a:endParaRPr sz="1200">
              <a:solidFill>
                <a:srgbClr val="B4532A"/>
              </a:solidFill>
              <a:latin typeface="IBM Plex Sans"/>
              <a:ea typeface="IBM Plex Sans"/>
              <a:cs typeface="IBM Plex Sans"/>
              <a:sym typeface="IBM Plex Sans"/>
            </a:endParaRPr>
          </a:p>
        </p:txBody>
      </p:sp>
      <p:sp>
        <p:nvSpPr>
          <p:cNvPr id="121" name="Google Shape;121;p15"/>
          <p:cNvSpPr txBox="1"/>
          <p:nvPr/>
        </p:nvSpPr>
        <p:spPr>
          <a:xfrm>
            <a:off x="5897880" y="3749040"/>
            <a:ext cx="1463100" cy="65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1F1D1A"/>
                </a:solidFill>
                <a:latin typeface="IBM Plex Sans"/>
                <a:ea typeface="IBM Plex Sans"/>
                <a:cs typeface="IBM Plex Sans"/>
                <a:sym typeface="IBM Plex Sans"/>
              </a:rPr>
              <a:t>exact sums, dates, monthly repeats</a:t>
            </a:r>
            <a:endParaRPr sz="1200">
              <a:solidFill>
                <a:srgbClr val="1F1D1A"/>
              </a:solidFill>
              <a:latin typeface="IBM Plex Sans"/>
              <a:ea typeface="IBM Plex Sans"/>
              <a:cs typeface="IBM Plex Sans"/>
              <a:sym typeface="IBM Plex Sans"/>
            </a:endParaRPr>
          </a:p>
        </p:txBody>
      </p:sp>
      <p:sp>
        <p:nvSpPr>
          <p:cNvPr id="122" name="Google Shape;122;p15"/>
          <p:cNvSpPr txBox="1"/>
          <p:nvPr/>
        </p:nvSpPr>
        <p:spPr>
          <a:xfrm>
            <a:off x="7360920" y="3749040"/>
            <a:ext cx="1417200" cy="658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200">
                <a:solidFill>
                  <a:srgbClr val="2F6B4F"/>
                </a:solidFill>
                <a:latin typeface="IBM Plex Sans"/>
                <a:ea typeface="IBM Plex Sans"/>
                <a:cs typeface="IBM Plex Sans"/>
                <a:sym typeface="IBM Plex Sans"/>
              </a:rPr>
              <a:t>a prompt with only our numbers</a:t>
            </a:r>
            <a:endParaRPr sz="1200">
              <a:solidFill>
                <a:srgbClr val="2F6B4F"/>
              </a:solidFill>
              <a:latin typeface="IBM Plex Sans"/>
              <a:ea typeface="IBM Plex Sans"/>
              <a:cs typeface="IBM Plex Sans"/>
              <a:sym typeface="IBM Plex Sans"/>
            </a:endParaRPr>
          </a:p>
        </p:txBody>
      </p:sp>
      <p:sp>
        <p:nvSpPr>
          <p:cNvPr id="123" name="Google Shape;123;p15"/>
          <p:cNvSpPr txBox="1"/>
          <p:nvPr/>
        </p:nvSpPr>
        <p:spPr>
          <a:xfrm>
            <a:off x="3099816" y="2359152"/>
            <a:ext cx="2670000" cy="786300"/>
          </a:xfrm>
          <a:prstGeom prst="rect">
            <a:avLst/>
          </a:prstGeom>
          <a:noFill/>
          <a:ln>
            <a:noFill/>
          </a:ln>
        </p:spPr>
        <p:txBody>
          <a:bodyPr anchorCtr="0" anchor="t" bIns="91425" lIns="91425" spcFirstLastPara="1" rIns="91425" wrap="square" tIns="91425">
            <a:noAutofit/>
          </a:bodyPr>
          <a:lstStyle/>
          <a:p>
            <a:pPr indent="0" lvl="0" marL="0" rtl="0" algn="l">
              <a:lnSpc>
                <a:spcPct val="118000"/>
              </a:lnSpc>
              <a:spcBef>
                <a:spcPts val="0"/>
              </a:spcBef>
              <a:spcAft>
                <a:spcPts val="0"/>
              </a:spcAft>
              <a:buNone/>
            </a:pPr>
            <a:r>
              <a:rPr lang="en" sz="1150">
                <a:solidFill>
                  <a:srgbClr val="B4532A"/>
                </a:solidFill>
                <a:latin typeface="IBM Plex Mono SemiBold"/>
                <a:ea typeface="IBM Plex Mono SemiBold"/>
                <a:cs typeface="IBM Plex Mono SemiBold"/>
                <a:sym typeface="IBM Plex Mono SemiBold"/>
              </a:rPr>
              <a:t>1</a:t>
            </a:r>
            <a:r>
              <a:rPr lang="en" sz="1150">
                <a:solidFill>
                  <a:srgbClr val="6B655C"/>
                </a:solidFill>
                <a:latin typeface="IBM Plex Sans"/>
                <a:ea typeface="IBM Plex Sans"/>
                <a:cs typeface="IBM Plex Sans"/>
                <a:sym typeface="IBM Plex Sans"/>
              </a:rPr>
              <a:t>  Reuse past answers if they agree</a:t>
            </a:r>
            <a:endParaRPr sz="1150">
              <a:solidFill>
                <a:srgbClr val="6B655C"/>
              </a:solidFill>
              <a:latin typeface="IBM Plex Sans"/>
              <a:ea typeface="IBM Plex Sans"/>
              <a:cs typeface="IBM Plex Sans"/>
              <a:sym typeface="IBM Plex Sans"/>
            </a:endParaRPr>
          </a:p>
          <a:p>
            <a:pPr indent="0" lvl="0" marL="0" rtl="0" algn="l">
              <a:lnSpc>
                <a:spcPct val="118000"/>
              </a:lnSpc>
              <a:spcBef>
                <a:spcPts val="0"/>
              </a:spcBef>
              <a:spcAft>
                <a:spcPts val="0"/>
              </a:spcAft>
              <a:buNone/>
            </a:pPr>
            <a:r>
              <a:rPr lang="en" sz="1150">
                <a:solidFill>
                  <a:srgbClr val="2F6B4F"/>
                </a:solidFill>
                <a:latin typeface="IBM Plex Mono SemiBold"/>
                <a:ea typeface="IBM Plex Mono SemiBold"/>
                <a:cs typeface="IBM Plex Mono SemiBold"/>
                <a:sym typeface="IBM Plex Mono SemiBold"/>
              </a:rPr>
              <a:t>2</a:t>
            </a:r>
            <a:r>
              <a:rPr lang="en" sz="1150">
                <a:solidFill>
                  <a:srgbClr val="6B655C"/>
                </a:solidFill>
                <a:latin typeface="IBM Plex Sans"/>
                <a:ea typeface="IBM Plex Sans"/>
                <a:cs typeface="IBM Plex Sans"/>
                <a:sym typeface="IBM Plex Sans"/>
              </a:rPr>
              <a:t>  LLM categorizes the rest</a:t>
            </a:r>
            <a:endParaRPr sz="1150">
              <a:solidFill>
                <a:srgbClr val="6B655C"/>
              </a:solidFill>
              <a:latin typeface="IBM Plex Sans"/>
              <a:ea typeface="IBM Plex Sans"/>
              <a:cs typeface="IBM Plex Sans"/>
              <a:sym typeface="IBM Plex Sans"/>
            </a:endParaRPr>
          </a:p>
          <a:p>
            <a:pPr indent="0" lvl="0" marL="0" rtl="0" algn="l">
              <a:lnSpc>
                <a:spcPct val="118000"/>
              </a:lnSpc>
              <a:spcBef>
                <a:spcPts val="0"/>
              </a:spcBef>
              <a:spcAft>
                <a:spcPts val="0"/>
              </a:spcAft>
              <a:buNone/>
            </a:pPr>
            <a:r>
              <a:rPr lang="en" sz="1150">
                <a:solidFill>
                  <a:srgbClr val="B4532A"/>
                </a:solidFill>
                <a:latin typeface="IBM Plex Mono SemiBold"/>
                <a:ea typeface="IBM Plex Mono SemiBold"/>
                <a:cs typeface="IBM Plex Mono SemiBold"/>
                <a:sym typeface="IBM Plex Mono SemiBold"/>
              </a:rPr>
              <a:t>3</a:t>
            </a:r>
            <a:r>
              <a:rPr lang="en" sz="1150">
                <a:solidFill>
                  <a:srgbClr val="6B655C"/>
                </a:solidFill>
                <a:latin typeface="IBM Plex Sans"/>
                <a:ea typeface="IBM Plex Sans"/>
                <a:cs typeface="IBM Plex Sans"/>
                <a:sym typeface="IBM Plex Sans"/>
              </a:rPr>
              <a:t>  If unsure, ask and save the answer</a:t>
            </a:r>
            <a:endParaRPr sz="1150">
              <a:solidFill>
                <a:srgbClr val="6B655C"/>
              </a:solidFill>
              <a:latin typeface="IBM Plex Sans"/>
              <a:ea typeface="IBM Plex Sans"/>
              <a:cs typeface="IBM Plex Sans"/>
              <a:sym typeface="IBM Plex Sans"/>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27" name="Shape 127"/>
        <p:cNvGrpSpPr/>
        <p:nvPr/>
      </p:nvGrpSpPr>
      <p:grpSpPr>
        <a:xfrm>
          <a:off x="0" y="0"/>
          <a:ext cx="0" cy="0"/>
          <a:chOff x="0" y="0"/>
          <a:chExt cx="0" cy="0"/>
        </a:xfrm>
      </p:grpSpPr>
      <p:sp>
        <p:nvSpPr>
          <p:cNvPr id="128" name="Google Shape;128;p16"/>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Our trained models fell from about 85% to 25% on merchants they hadn't seen</a:t>
            </a:r>
            <a:endParaRPr sz="2800">
              <a:solidFill>
                <a:srgbClr val="1F1D1A"/>
              </a:solidFill>
              <a:latin typeface="IBM Plex Serif SemiBold"/>
              <a:ea typeface="IBM Plex Serif SemiBold"/>
              <a:cs typeface="IBM Plex Serif SemiBold"/>
              <a:sym typeface="IBM Plex Serif SemiBold"/>
            </a:endParaRPr>
          </a:p>
        </p:txBody>
      </p:sp>
      <p:sp>
        <p:nvSpPr>
          <p:cNvPr id="129" name="Google Shape;129;p16"/>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04</a:t>
            </a:r>
            <a:endParaRPr sz="900">
              <a:solidFill>
                <a:srgbClr val="9A9285"/>
              </a:solidFill>
              <a:latin typeface="IBM Plex Mono"/>
              <a:ea typeface="IBM Plex Mono"/>
              <a:cs typeface="IBM Plex Mono"/>
              <a:sym typeface="IBM Plex Mono"/>
            </a:endParaRPr>
          </a:p>
        </p:txBody>
      </p:sp>
      <p:cxnSp>
        <p:nvCxnSpPr>
          <p:cNvPr id="130" name="Google Shape;130;p16"/>
          <p:cNvCxnSpPr/>
          <p:nvPr/>
        </p:nvCxnSpPr>
        <p:spPr>
          <a:xfrm>
            <a:off x="2606040" y="1810512"/>
            <a:ext cx="12600" cy="2377500"/>
          </a:xfrm>
          <a:prstGeom prst="straightConnector1">
            <a:avLst/>
          </a:prstGeom>
          <a:noFill/>
          <a:ln cap="flat" cmpd="sng" w="6350">
            <a:solidFill>
              <a:srgbClr val="D3CBBC"/>
            </a:solidFill>
            <a:prstDash val="solid"/>
            <a:round/>
            <a:headEnd len="med" w="med" type="none"/>
            <a:tailEnd len="med" w="med" type="none"/>
          </a:ln>
        </p:spPr>
      </p:cxnSp>
      <p:sp>
        <p:nvSpPr>
          <p:cNvPr id="131" name="Google Shape;131;p16"/>
          <p:cNvSpPr txBox="1"/>
          <p:nvPr/>
        </p:nvSpPr>
        <p:spPr>
          <a:xfrm>
            <a:off x="2240280" y="4224528"/>
            <a:ext cx="7314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9A9285"/>
                </a:solidFill>
                <a:latin typeface="IBM Plex Mono"/>
                <a:ea typeface="IBM Plex Mono"/>
                <a:cs typeface="IBM Plex Mono"/>
                <a:sym typeface="IBM Plex Mono"/>
              </a:rPr>
              <a:t>0%</a:t>
            </a:r>
            <a:endParaRPr sz="900">
              <a:solidFill>
                <a:srgbClr val="9A9285"/>
              </a:solidFill>
              <a:latin typeface="IBM Plex Mono"/>
              <a:ea typeface="IBM Plex Mono"/>
              <a:cs typeface="IBM Plex Mono"/>
              <a:sym typeface="IBM Plex Mono"/>
            </a:endParaRPr>
          </a:p>
        </p:txBody>
      </p:sp>
      <p:cxnSp>
        <p:nvCxnSpPr>
          <p:cNvPr id="132" name="Google Shape;132;p16"/>
          <p:cNvCxnSpPr/>
          <p:nvPr/>
        </p:nvCxnSpPr>
        <p:spPr>
          <a:xfrm>
            <a:off x="3383280" y="1810512"/>
            <a:ext cx="12600" cy="2377500"/>
          </a:xfrm>
          <a:prstGeom prst="straightConnector1">
            <a:avLst/>
          </a:prstGeom>
          <a:noFill/>
          <a:ln cap="flat" cmpd="sng" w="6350">
            <a:solidFill>
              <a:srgbClr val="D3CBBC"/>
            </a:solidFill>
            <a:prstDash val="solid"/>
            <a:round/>
            <a:headEnd len="med" w="med" type="none"/>
            <a:tailEnd len="med" w="med" type="none"/>
          </a:ln>
        </p:spPr>
      </p:cxnSp>
      <p:sp>
        <p:nvSpPr>
          <p:cNvPr id="133" name="Google Shape;133;p16"/>
          <p:cNvSpPr txBox="1"/>
          <p:nvPr/>
        </p:nvSpPr>
        <p:spPr>
          <a:xfrm>
            <a:off x="3017520" y="4224528"/>
            <a:ext cx="7314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9A9285"/>
                </a:solidFill>
                <a:latin typeface="IBM Plex Mono"/>
                <a:ea typeface="IBM Plex Mono"/>
                <a:cs typeface="IBM Plex Mono"/>
                <a:sym typeface="IBM Plex Mono"/>
              </a:rPr>
              <a:t>25%</a:t>
            </a:r>
            <a:endParaRPr sz="900">
              <a:solidFill>
                <a:srgbClr val="9A9285"/>
              </a:solidFill>
              <a:latin typeface="IBM Plex Mono"/>
              <a:ea typeface="IBM Plex Mono"/>
              <a:cs typeface="IBM Plex Mono"/>
              <a:sym typeface="IBM Plex Mono"/>
            </a:endParaRPr>
          </a:p>
        </p:txBody>
      </p:sp>
      <p:cxnSp>
        <p:nvCxnSpPr>
          <p:cNvPr id="134" name="Google Shape;134;p16"/>
          <p:cNvCxnSpPr/>
          <p:nvPr/>
        </p:nvCxnSpPr>
        <p:spPr>
          <a:xfrm>
            <a:off x="4160520" y="1810512"/>
            <a:ext cx="12600" cy="2377500"/>
          </a:xfrm>
          <a:prstGeom prst="straightConnector1">
            <a:avLst/>
          </a:prstGeom>
          <a:noFill/>
          <a:ln cap="flat" cmpd="sng" w="6350">
            <a:solidFill>
              <a:srgbClr val="D3CBBC"/>
            </a:solidFill>
            <a:prstDash val="solid"/>
            <a:round/>
            <a:headEnd len="med" w="med" type="none"/>
            <a:tailEnd len="med" w="med" type="none"/>
          </a:ln>
        </p:spPr>
      </p:cxnSp>
      <p:sp>
        <p:nvSpPr>
          <p:cNvPr id="135" name="Google Shape;135;p16"/>
          <p:cNvSpPr txBox="1"/>
          <p:nvPr/>
        </p:nvSpPr>
        <p:spPr>
          <a:xfrm>
            <a:off x="3794760" y="4224528"/>
            <a:ext cx="7314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9A9285"/>
                </a:solidFill>
                <a:latin typeface="IBM Plex Mono"/>
                <a:ea typeface="IBM Plex Mono"/>
                <a:cs typeface="IBM Plex Mono"/>
                <a:sym typeface="IBM Plex Mono"/>
              </a:rPr>
              <a:t>50%</a:t>
            </a:r>
            <a:endParaRPr sz="900">
              <a:solidFill>
                <a:srgbClr val="9A9285"/>
              </a:solidFill>
              <a:latin typeface="IBM Plex Mono"/>
              <a:ea typeface="IBM Plex Mono"/>
              <a:cs typeface="IBM Plex Mono"/>
              <a:sym typeface="IBM Plex Mono"/>
            </a:endParaRPr>
          </a:p>
        </p:txBody>
      </p:sp>
      <p:cxnSp>
        <p:nvCxnSpPr>
          <p:cNvPr id="136" name="Google Shape;136;p16"/>
          <p:cNvCxnSpPr/>
          <p:nvPr/>
        </p:nvCxnSpPr>
        <p:spPr>
          <a:xfrm>
            <a:off x="4937760" y="1810512"/>
            <a:ext cx="12600" cy="2377500"/>
          </a:xfrm>
          <a:prstGeom prst="straightConnector1">
            <a:avLst/>
          </a:prstGeom>
          <a:noFill/>
          <a:ln cap="flat" cmpd="sng" w="6350">
            <a:solidFill>
              <a:srgbClr val="D3CBBC"/>
            </a:solidFill>
            <a:prstDash val="solid"/>
            <a:round/>
            <a:headEnd len="med" w="med" type="none"/>
            <a:tailEnd len="med" w="med" type="none"/>
          </a:ln>
        </p:spPr>
      </p:cxnSp>
      <p:sp>
        <p:nvSpPr>
          <p:cNvPr id="137" name="Google Shape;137;p16"/>
          <p:cNvSpPr txBox="1"/>
          <p:nvPr/>
        </p:nvSpPr>
        <p:spPr>
          <a:xfrm>
            <a:off x="4572000" y="4224528"/>
            <a:ext cx="7314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9A9285"/>
                </a:solidFill>
                <a:latin typeface="IBM Plex Mono"/>
                <a:ea typeface="IBM Plex Mono"/>
                <a:cs typeface="IBM Plex Mono"/>
                <a:sym typeface="IBM Plex Mono"/>
              </a:rPr>
              <a:t>75%</a:t>
            </a:r>
            <a:endParaRPr sz="900">
              <a:solidFill>
                <a:srgbClr val="9A9285"/>
              </a:solidFill>
              <a:latin typeface="IBM Plex Mono"/>
              <a:ea typeface="IBM Plex Mono"/>
              <a:cs typeface="IBM Plex Mono"/>
              <a:sym typeface="IBM Plex Mono"/>
            </a:endParaRPr>
          </a:p>
        </p:txBody>
      </p:sp>
      <p:cxnSp>
        <p:nvCxnSpPr>
          <p:cNvPr id="138" name="Google Shape;138;p16"/>
          <p:cNvCxnSpPr/>
          <p:nvPr/>
        </p:nvCxnSpPr>
        <p:spPr>
          <a:xfrm>
            <a:off x="5715000" y="1810512"/>
            <a:ext cx="12600" cy="2377500"/>
          </a:xfrm>
          <a:prstGeom prst="straightConnector1">
            <a:avLst/>
          </a:prstGeom>
          <a:noFill/>
          <a:ln cap="flat" cmpd="sng" w="6350">
            <a:solidFill>
              <a:srgbClr val="D3CBBC"/>
            </a:solidFill>
            <a:prstDash val="solid"/>
            <a:round/>
            <a:headEnd len="med" w="med" type="none"/>
            <a:tailEnd len="med" w="med" type="none"/>
          </a:ln>
        </p:spPr>
      </p:cxnSp>
      <p:sp>
        <p:nvSpPr>
          <p:cNvPr id="139" name="Google Shape;139;p16"/>
          <p:cNvSpPr txBox="1"/>
          <p:nvPr/>
        </p:nvSpPr>
        <p:spPr>
          <a:xfrm>
            <a:off x="5349240" y="4224528"/>
            <a:ext cx="731400" cy="2196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9A9285"/>
                </a:solidFill>
                <a:latin typeface="IBM Plex Mono"/>
                <a:ea typeface="IBM Plex Mono"/>
                <a:cs typeface="IBM Plex Mono"/>
                <a:sym typeface="IBM Plex Mono"/>
              </a:rPr>
              <a:t>100%</a:t>
            </a:r>
            <a:endParaRPr sz="900">
              <a:solidFill>
                <a:srgbClr val="9A9285"/>
              </a:solidFill>
              <a:latin typeface="IBM Plex Mono"/>
              <a:ea typeface="IBM Plex Mono"/>
              <a:cs typeface="IBM Plex Mono"/>
              <a:sym typeface="IBM Plex Mono"/>
            </a:endParaRPr>
          </a:p>
        </p:txBody>
      </p:sp>
      <p:cxnSp>
        <p:nvCxnSpPr>
          <p:cNvPr id="140" name="Google Shape;140;p16"/>
          <p:cNvCxnSpPr/>
          <p:nvPr/>
        </p:nvCxnSpPr>
        <p:spPr>
          <a:xfrm>
            <a:off x="5590642" y="1700784"/>
            <a:ext cx="12600" cy="2487300"/>
          </a:xfrm>
          <a:prstGeom prst="straightConnector1">
            <a:avLst/>
          </a:prstGeom>
          <a:noFill/>
          <a:ln cap="flat" cmpd="sng" w="12700">
            <a:solidFill>
              <a:srgbClr val="1F1D1A"/>
            </a:solidFill>
            <a:prstDash val="dash"/>
            <a:round/>
            <a:headEnd len="med" w="med" type="none"/>
            <a:tailEnd len="med" w="med" type="none"/>
          </a:ln>
        </p:spPr>
      </p:cxnSp>
      <p:sp>
        <p:nvSpPr>
          <p:cNvPr id="141" name="Google Shape;141;p16"/>
          <p:cNvSpPr txBox="1"/>
          <p:nvPr/>
        </p:nvSpPr>
        <p:spPr>
          <a:xfrm>
            <a:off x="365760" y="1947672"/>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Similarity search</a:t>
            </a:r>
            <a:endParaRPr sz="1300">
              <a:solidFill>
                <a:srgbClr val="1F1D1A"/>
              </a:solidFill>
              <a:latin typeface="IBM Plex Sans"/>
              <a:ea typeface="IBM Plex Sans"/>
              <a:cs typeface="IBM Plex Sans"/>
              <a:sym typeface="IBM Plex Sans"/>
            </a:endParaRPr>
          </a:p>
        </p:txBody>
      </p:sp>
      <p:cxnSp>
        <p:nvCxnSpPr>
          <p:cNvPr id="142" name="Google Shape;142;p16"/>
          <p:cNvCxnSpPr/>
          <p:nvPr/>
        </p:nvCxnSpPr>
        <p:spPr>
          <a:xfrm>
            <a:off x="3372307" y="2084832"/>
            <a:ext cx="1958700" cy="12600"/>
          </a:xfrm>
          <a:prstGeom prst="straightConnector1">
            <a:avLst/>
          </a:prstGeom>
          <a:noFill/>
          <a:ln cap="flat" cmpd="sng" w="15875">
            <a:solidFill>
              <a:srgbClr val="6B655C"/>
            </a:solidFill>
            <a:prstDash val="solid"/>
            <a:round/>
            <a:headEnd len="med" w="med" type="none"/>
            <a:tailEnd len="med" w="med" type="none"/>
          </a:ln>
        </p:spPr>
      </p:cxnSp>
      <p:sp>
        <p:nvSpPr>
          <p:cNvPr id="143" name="Google Shape;143;p16"/>
          <p:cNvSpPr/>
          <p:nvPr/>
        </p:nvSpPr>
        <p:spPr>
          <a:xfrm>
            <a:off x="5335524" y="2016252"/>
            <a:ext cx="137100" cy="137100"/>
          </a:xfrm>
          <a:prstGeom prst="ellipse">
            <a:avLst/>
          </a:prstGeom>
          <a:solidFill>
            <a:srgbClr val="F4F1EA"/>
          </a:solidFill>
          <a:ln cap="flat" cmpd="sng" w="15875">
            <a:solidFill>
              <a:srgbClr val="6B65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4" name="Google Shape;144;p16"/>
          <p:cNvSpPr/>
          <p:nvPr/>
        </p:nvSpPr>
        <p:spPr>
          <a:xfrm>
            <a:off x="3212287" y="2007108"/>
            <a:ext cx="155400" cy="155400"/>
          </a:xfrm>
          <a:prstGeom prst="ellipse">
            <a:avLst/>
          </a:prstGeom>
          <a:solidFill>
            <a:srgbClr val="B453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5" name="Google Shape;145;p16"/>
          <p:cNvSpPr txBox="1"/>
          <p:nvPr/>
        </p:nvSpPr>
        <p:spPr>
          <a:xfrm>
            <a:off x="5682082" y="1965960"/>
            <a:ext cx="502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90%</a:t>
            </a:r>
            <a:endParaRPr sz="1000">
              <a:solidFill>
                <a:srgbClr val="6B655C"/>
              </a:solidFill>
              <a:latin typeface="IBM Plex Mono"/>
              <a:ea typeface="IBM Plex Mono"/>
              <a:cs typeface="IBM Plex Mono"/>
              <a:sym typeface="IBM Plex Mono"/>
            </a:endParaRPr>
          </a:p>
        </p:txBody>
      </p:sp>
      <p:sp>
        <p:nvSpPr>
          <p:cNvPr id="146" name="Google Shape;146;p16"/>
          <p:cNvSpPr txBox="1"/>
          <p:nvPr/>
        </p:nvSpPr>
        <p:spPr>
          <a:xfrm>
            <a:off x="2595067" y="1965960"/>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B4532A"/>
                </a:solidFill>
                <a:latin typeface="IBM Plex Mono SemiBold"/>
                <a:ea typeface="IBM Plex Mono SemiBold"/>
                <a:cs typeface="IBM Plex Mono SemiBold"/>
                <a:sym typeface="IBM Plex Mono SemiBold"/>
              </a:rPr>
              <a:t>22%</a:t>
            </a:r>
            <a:endParaRPr sz="1000">
              <a:solidFill>
                <a:srgbClr val="B4532A"/>
              </a:solidFill>
              <a:latin typeface="IBM Plex Mono SemiBold"/>
              <a:ea typeface="IBM Plex Mono SemiBold"/>
              <a:cs typeface="IBM Plex Mono SemiBold"/>
              <a:sym typeface="IBM Plex Mono SemiBold"/>
            </a:endParaRPr>
          </a:p>
        </p:txBody>
      </p:sp>
      <p:sp>
        <p:nvSpPr>
          <p:cNvPr id="147" name="Google Shape;147;p16"/>
          <p:cNvSpPr txBox="1"/>
          <p:nvPr/>
        </p:nvSpPr>
        <p:spPr>
          <a:xfrm>
            <a:off x="4901184" y="1700784"/>
            <a:ext cx="1005900" cy="2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6B655C"/>
                </a:solidFill>
                <a:latin typeface="IBM Plex Mono"/>
                <a:ea typeface="IBM Plex Mono"/>
                <a:cs typeface="IBM Plex Mono"/>
                <a:sym typeface="IBM Plex Mono"/>
              </a:rPr>
              <a:t>seen</a:t>
            </a:r>
            <a:endParaRPr sz="900">
              <a:solidFill>
                <a:srgbClr val="6B655C"/>
              </a:solidFill>
              <a:latin typeface="IBM Plex Mono"/>
              <a:ea typeface="IBM Plex Mono"/>
              <a:cs typeface="IBM Plex Mono"/>
              <a:sym typeface="IBM Plex Mono"/>
            </a:endParaRPr>
          </a:p>
        </p:txBody>
      </p:sp>
      <p:sp>
        <p:nvSpPr>
          <p:cNvPr id="148" name="Google Shape;148;p16"/>
          <p:cNvSpPr txBox="1"/>
          <p:nvPr/>
        </p:nvSpPr>
        <p:spPr>
          <a:xfrm>
            <a:off x="2787091" y="1700784"/>
            <a:ext cx="1005900" cy="2013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00">
                <a:solidFill>
                  <a:srgbClr val="B4532A"/>
                </a:solidFill>
                <a:latin typeface="IBM Plex Mono"/>
                <a:ea typeface="IBM Plex Mono"/>
                <a:cs typeface="IBM Plex Mono"/>
                <a:sym typeface="IBM Plex Mono"/>
              </a:rPr>
              <a:t>new</a:t>
            </a:r>
            <a:endParaRPr sz="900">
              <a:solidFill>
                <a:srgbClr val="B4532A"/>
              </a:solidFill>
              <a:latin typeface="IBM Plex Mono"/>
              <a:ea typeface="IBM Plex Mono"/>
              <a:cs typeface="IBM Plex Mono"/>
              <a:sym typeface="IBM Plex Mono"/>
            </a:endParaRPr>
          </a:p>
        </p:txBody>
      </p:sp>
      <p:cxnSp>
        <p:nvCxnSpPr>
          <p:cNvPr id="149" name="Google Shape;149;p16"/>
          <p:cNvCxnSpPr/>
          <p:nvPr/>
        </p:nvCxnSpPr>
        <p:spPr>
          <a:xfrm>
            <a:off x="3434486" y="2414016"/>
            <a:ext cx="1710000" cy="12600"/>
          </a:xfrm>
          <a:prstGeom prst="straightConnector1">
            <a:avLst/>
          </a:prstGeom>
          <a:noFill/>
          <a:ln cap="flat" cmpd="sng" w="15875">
            <a:solidFill>
              <a:srgbClr val="6B655C"/>
            </a:solidFill>
            <a:prstDash val="solid"/>
            <a:round/>
            <a:headEnd len="med" w="med" type="none"/>
            <a:tailEnd len="med" w="med" type="none"/>
          </a:ln>
        </p:spPr>
      </p:cxnSp>
      <p:sp>
        <p:nvSpPr>
          <p:cNvPr id="150" name="Google Shape;150;p16"/>
          <p:cNvSpPr/>
          <p:nvPr/>
        </p:nvSpPr>
        <p:spPr>
          <a:xfrm>
            <a:off x="5148986" y="2345436"/>
            <a:ext cx="137100" cy="137100"/>
          </a:xfrm>
          <a:prstGeom prst="ellipse">
            <a:avLst/>
          </a:prstGeom>
          <a:solidFill>
            <a:srgbClr val="F4F1EA"/>
          </a:solidFill>
          <a:ln cap="flat" cmpd="sng" w="15875">
            <a:solidFill>
              <a:srgbClr val="6B65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1" name="Google Shape;151;p16"/>
          <p:cNvSpPr/>
          <p:nvPr/>
        </p:nvSpPr>
        <p:spPr>
          <a:xfrm>
            <a:off x="3274466" y="2336292"/>
            <a:ext cx="155400" cy="155400"/>
          </a:xfrm>
          <a:prstGeom prst="ellipse">
            <a:avLst/>
          </a:prstGeom>
          <a:solidFill>
            <a:srgbClr val="B453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2" name="Google Shape;152;p16"/>
          <p:cNvSpPr txBox="1"/>
          <p:nvPr/>
        </p:nvSpPr>
        <p:spPr>
          <a:xfrm>
            <a:off x="5682082" y="2295144"/>
            <a:ext cx="502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84%</a:t>
            </a:r>
            <a:endParaRPr sz="1000">
              <a:solidFill>
                <a:srgbClr val="6B655C"/>
              </a:solidFill>
              <a:latin typeface="IBM Plex Mono"/>
              <a:ea typeface="IBM Plex Mono"/>
              <a:cs typeface="IBM Plex Mono"/>
              <a:sym typeface="IBM Plex Mono"/>
            </a:endParaRPr>
          </a:p>
        </p:txBody>
      </p:sp>
      <p:sp>
        <p:nvSpPr>
          <p:cNvPr id="153" name="Google Shape;153;p16"/>
          <p:cNvSpPr txBox="1"/>
          <p:nvPr/>
        </p:nvSpPr>
        <p:spPr>
          <a:xfrm>
            <a:off x="2657246" y="2295144"/>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B4532A"/>
                </a:solidFill>
                <a:latin typeface="IBM Plex Mono SemiBold"/>
                <a:ea typeface="IBM Plex Mono SemiBold"/>
                <a:cs typeface="IBM Plex Mono SemiBold"/>
                <a:sym typeface="IBM Plex Mono SemiBold"/>
              </a:rPr>
              <a:t>24%</a:t>
            </a:r>
            <a:endParaRPr sz="1000">
              <a:solidFill>
                <a:srgbClr val="B4532A"/>
              </a:solidFill>
              <a:latin typeface="IBM Plex Mono SemiBold"/>
              <a:ea typeface="IBM Plex Mono SemiBold"/>
              <a:cs typeface="IBM Plex Mono SemiBold"/>
              <a:sym typeface="IBM Plex Mono SemiBold"/>
            </a:endParaRPr>
          </a:p>
        </p:txBody>
      </p:sp>
      <p:cxnSp>
        <p:nvCxnSpPr>
          <p:cNvPr id="154" name="Google Shape;154;p16"/>
          <p:cNvCxnSpPr/>
          <p:nvPr/>
        </p:nvCxnSpPr>
        <p:spPr>
          <a:xfrm>
            <a:off x="3496666" y="2743200"/>
            <a:ext cx="1647600" cy="12600"/>
          </a:xfrm>
          <a:prstGeom prst="straightConnector1">
            <a:avLst/>
          </a:prstGeom>
          <a:noFill/>
          <a:ln cap="flat" cmpd="sng" w="15875">
            <a:solidFill>
              <a:srgbClr val="6B655C"/>
            </a:solidFill>
            <a:prstDash val="solid"/>
            <a:round/>
            <a:headEnd len="med" w="med" type="none"/>
            <a:tailEnd len="med" w="med" type="none"/>
          </a:ln>
        </p:spPr>
      </p:cxnSp>
      <p:sp>
        <p:nvSpPr>
          <p:cNvPr id="155" name="Google Shape;155;p16"/>
          <p:cNvSpPr/>
          <p:nvPr/>
        </p:nvSpPr>
        <p:spPr>
          <a:xfrm>
            <a:off x="5148986" y="2674620"/>
            <a:ext cx="137100" cy="137100"/>
          </a:xfrm>
          <a:prstGeom prst="ellipse">
            <a:avLst/>
          </a:prstGeom>
          <a:solidFill>
            <a:srgbClr val="F4F1EA"/>
          </a:solidFill>
          <a:ln cap="flat" cmpd="sng" w="15875">
            <a:solidFill>
              <a:srgbClr val="6B655C"/>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6" name="Google Shape;156;p16"/>
          <p:cNvSpPr/>
          <p:nvPr/>
        </p:nvSpPr>
        <p:spPr>
          <a:xfrm>
            <a:off x="3336646" y="2665476"/>
            <a:ext cx="155400" cy="155400"/>
          </a:xfrm>
          <a:prstGeom prst="ellipse">
            <a:avLst/>
          </a:prstGeom>
          <a:solidFill>
            <a:srgbClr val="B4532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 name="Google Shape;157;p16"/>
          <p:cNvSpPr txBox="1"/>
          <p:nvPr/>
        </p:nvSpPr>
        <p:spPr>
          <a:xfrm>
            <a:off x="5682082" y="2624328"/>
            <a:ext cx="502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84%</a:t>
            </a:r>
            <a:endParaRPr sz="1000">
              <a:solidFill>
                <a:srgbClr val="6B655C"/>
              </a:solidFill>
              <a:latin typeface="IBM Plex Mono"/>
              <a:ea typeface="IBM Plex Mono"/>
              <a:cs typeface="IBM Plex Mono"/>
              <a:sym typeface="IBM Plex Mono"/>
            </a:endParaRPr>
          </a:p>
        </p:txBody>
      </p:sp>
      <p:sp>
        <p:nvSpPr>
          <p:cNvPr id="158" name="Google Shape;158;p16"/>
          <p:cNvSpPr txBox="1"/>
          <p:nvPr/>
        </p:nvSpPr>
        <p:spPr>
          <a:xfrm>
            <a:off x="2719426" y="2624328"/>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B4532A"/>
                </a:solidFill>
                <a:latin typeface="IBM Plex Mono SemiBold"/>
                <a:ea typeface="IBM Plex Mono SemiBold"/>
                <a:cs typeface="IBM Plex Mono SemiBold"/>
                <a:sym typeface="IBM Plex Mono SemiBold"/>
              </a:rPr>
              <a:t>26%</a:t>
            </a:r>
            <a:endParaRPr sz="1000">
              <a:solidFill>
                <a:srgbClr val="B4532A"/>
              </a:solidFill>
              <a:latin typeface="IBM Plex Mono SemiBold"/>
              <a:ea typeface="IBM Plex Mono SemiBold"/>
              <a:cs typeface="IBM Plex Mono SemiBold"/>
              <a:sym typeface="IBM Plex Mono SemiBold"/>
            </a:endParaRPr>
          </a:p>
        </p:txBody>
      </p:sp>
      <p:sp>
        <p:nvSpPr>
          <p:cNvPr id="159" name="Google Shape;159;p16"/>
          <p:cNvSpPr txBox="1"/>
          <p:nvPr/>
        </p:nvSpPr>
        <p:spPr>
          <a:xfrm>
            <a:off x="365760" y="3209544"/>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Keyword rules</a:t>
            </a:r>
            <a:endParaRPr sz="1300">
              <a:solidFill>
                <a:srgbClr val="1F1D1A"/>
              </a:solidFill>
              <a:latin typeface="IBM Plex Sans"/>
              <a:ea typeface="IBM Plex Sans"/>
              <a:cs typeface="IBM Plex Sans"/>
              <a:sym typeface="IBM Plex Sans"/>
            </a:endParaRPr>
          </a:p>
        </p:txBody>
      </p:sp>
      <p:sp>
        <p:nvSpPr>
          <p:cNvPr id="160" name="Google Shape;160;p16"/>
          <p:cNvSpPr/>
          <p:nvPr/>
        </p:nvSpPr>
        <p:spPr>
          <a:xfrm>
            <a:off x="5077663" y="3268980"/>
            <a:ext cx="155400" cy="155400"/>
          </a:xfrm>
          <a:prstGeom prst="ellipse">
            <a:avLst/>
          </a:prstGeom>
          <a:solidFill>
            <a:srgbClr val="1F1D1A"/>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1" name="Google Shape;161;p16"/>
          <p:cNvSpPr txBox="1"/>
          <p:nvPr/>
        </p:nvSpPr>
        <p:spPr>
          <a:xfrm>
            <a:off x="4460443" y="3227832"/>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1F1D1A"/>
                </a:solidFill>
                <a:latin typeface="IBM Plex Mono SemiBold"/>
                <a:ea typeface="IBM Plex Mono SemiBold"/>
                <a:cs typeface="IBM Plex Mono SemiBold"/>
                <a:sym typeface="IBM Plex Mono SemiBold"/>
              </a:rPr>
              <a:t>82%</a:t>
            </a:r>
            <a:endParaRPr sz="1000">
              <a:solidFill>
                <a:srgbClr val="1F1D1A"/>
              </a:solidFill>
              <a:latin typeface="IBM Plex Mono SemiBold"/>
              <a:ea typeface="IBM Plex Mono SemiBold"/>
              <a:cs typeface="IBM Plex Mono SemiBold"/>
              <a:sym typeface="IBM Plex Mono SemiBold"/>
            </a:endParaRPr>
          </a:p>
        </p:txBody>
      </p:sp>
      <p:sp>
        <p:nvSpPr>
          <p:cNvPr id="162" name="Google Shape;162;p16"/>
          <p:cNvSpPr txBox="1"/>
          <p:nvPr/>
        </p:nvSpPr>
        <p:spPr>
          <a:xfrm>
            <a:off x="365760" y="3538728"/>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LLM, small model</a:t>
            </a:r>
            <a:endParaRPr sz="1300">
              <a:solidFill>
                <a:srgbClr val="1F1D1A"/>
              </a:solidFill>
              <a:latin typeface="IBM Plex Sans"/>
              <a:ea typeface="IBM Plex Sans"/>
              <a:cs typeface="IBM Plex Sans"/>
              <a:sym typeface="IBM Plex Sans"/>
            </a:endParaRPr>
          </a:p>
        </p:txBody>
      </p:sp>
      <p:sp>
        <p:nvSpPr>
          <p:cNvPr id="163" name="Google Shape;163;p16"/>
          <p:cNvSpPr/>
          <p:nvPr/>
        </p:nvSpPr>
        <p:spPr>
          <a:xfrm>
            <a:off x="5419649" y="3598164"/>
            <a:ext cx="155400" cy="155400"/>
          </a:xfrm>
          <a:prstGeom prst="ellipse">
            <a:avLst/>
          </a:prstGeom>
          <a:solidFill>
            <a:srgbClr val="2F6B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 name="Google Shape;164;p16"/>
          <p:cNvSpPr txBox="1"/>
          <p:nvPr/>
        </p:nvSpPr>
        <p:spPr>
          <a:xfrm>
            <a:off x="4802429" y="3557016"/>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2F6B4F"/>
                </a:solidFill>
                <a:latin typeface="IBM Plex Mono SemiBold"/>
                <a:ea typeface="IBM Plex Mono SemiBold"/>
                <a:cs typeface="IBM Plex Mono SemiBold"/>
                <a:sym typeface="IBM Plex Mono SemiBold"/>
              </a:rPr>
              <a:t>93%</a:t>
            </a:r>
            <a:endParaRPr sz="1000">
              <a:solidFill>
                <a:srgbClr val="2F6B4F"/>
              </a:solidFill>
              <a:latin typeface="IBM Plex Mono SemiBold"/>
              <a:ea typeface="IBM Plex Mono SemiBold"/>
              <a:cs typeface="IBM Plex Mono SemiBold"/>
              <a:sym typeface="IBM Plex Mono SemiBold"/>
            </a:endParaRPr>
          </a:p>
        </p:txBody>
      </p:sp>
      <p:sp>
        <p:nvSpPr>
          <p:cNvPr id="165" name="Google Shape;165;p16"/>
          <p:cNvSpPr txBox="1"/>
          <p:nvPr/>
        </p:nvSpPr>
        <p:spPr>
          <a:xfrm>
            <a:off x="365760" y="3867912"/>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LLM, large model</a:t>
            </a:r>
            <a:endParaRPr sz="1300">
              <a:solidFill>
                <a:srgbClr val="1F1D1A"/>
              </a:solidFill>
              <a:latin typeface="IBM Plex Sans"/>
              <a:ea typeface="IBM Plex Sans"/>
              <a:cs typeface="IBM Plex Sans"/>
              <a:sym typeface="IBM Plex Sans"/>
            </a:endParaRPr>
          </a:p>
        </p:txBody>
      </p:sp>
      <p:sp>
        <p:nvSpPr>
          <p:cNvPr id="166" name="Google Shape;166;p16"/>
          <p:cNvSpPr/>
          <p:nvPr/>
        </p:nvSpPr>
        <p:spPr>
          <a:xfrm>
            <a:off x="5450738" y="3927348"/>
            <a:ext cx="155400" cy="155400"/>
          </a:xfrm>
          <a:prstGeom prst="ellipse">
            <a:avLst/>
          </a:prstGeom>
          <a:solidFill>
            <a:srgbClr val="2F6B4F"/>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7" name="Google Shape;167;p16"/>
          <p:cNvSpPr txBox="1"/>
          <p:nvPr/>
        </p:nvSpPr>
        <p:spPr>
          <a:xfrm>
            <a:off x="4833518" y="3886200"/>
            <a:ext cx="6585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1000">
                <a:solidFill>
                  <a:srgbClr val="2F6B4F"/>
                </a:solidFill>
                <a:latin typeface="IBM Plex Mono SemiBold"/>
                <a:ea typeface="IBM Plex Mono SemiBold"/>
                <a:cs typeface="IBM Plex Mono SemiBold"/>
                <a:sym typeface="IBM Plex Mono SemiBold"/>
              </a:rPr>
              <a:t>94%</a:t>
            </a:r>
            <a:endParaRPr sz="1000">
              <a:solidFill>
                <a:srgbClr val="2F6B4F"/>
              </a:solidFill>
              <a:latin typeface="IBM Plex Mono SemiBold"/>
              <a:ea typeface="IBM Plex Mono SemiBold"/>
              <a:cs typeface="IBM Plex Mono SemiBold"/>
              <a:sym typeface="IBM Plex Mono SemiBold"/>
            </a:endParaRPr>
          </a:p>
        </p:txBody>
      </p:sp>
      <p:sp>
        <p:nvSpPr>
          <p:cNvPr id="168" name="Google Shape;168;p16"/>
          <p:cNvSpPr txBox="1"/>
          <p:nvPr/>
        </p:nvSpPr>
        <p:spPr>
          <a:xfrm>
            <a:off x="365760" y="1700784"/>
            <a:ext cx="22860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6B655C"/>
                </a:solidFill>
                <a:latin typeface="IBM Plex Mono Medium"/>
                <a:ea typeface="IBM Plex Mono Medium"/>
                <a:cs typeface="IBM Plex Mono Medium"/>
                <a:sym typeface="IBM Plex Mono Medium"/>
              </a:rPr>
              <a:t>TRAINED ON OUR DATA</a:t>
            </a:r>
            <a:endParaRPr sz="900">
              <a:solidFill>
                <a:srgbClr val="6B655C"/>
              </a:solidFill>
              <a:latin typeface="IBM Plex Mono Medium"/>
              <a:ea typeface="IBM Plex Mono Medium"/>
              <a:cs typeface="IBM Plex Mono Medium"/>
              <a:sym typeface="IBM Plex Mono Medium"/>
            </a:endParaRPr>
          </a:p>
        </p:txBody>
      </p:sp>
      <p:sp>
        <p:nvSpPr>
          <p:cNvPr id="169" name="Google Shape;169;p16"/>
          <p:cNvSpPr txBox="1"/>
          <p:nvPr/>
        </p:nvSpPr>
        <p:spPr>
          <a:xfrm>
            <a:off x="365760" y="2962656"/>
            <a:ext cx="2286000" cy="219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900">
                <a:solidFill>
                  <a:srgbClr val="6B655C"/>
                </a:solidFill>
                <a:latin typeface="IBM Plex Mono Medium"/>
                <a:ea typeface="IBM Plex Mono Medium"/>
                <a:cs typeface="IBM Plex Mono Medium"/>
                <a:sym typeface="IBM Plex Mono Medium"/>
              </a:rPr>
              <a:t>NOT TRAINED ON OUR DATA</a:t>
            </a:r>
            <a:endParaRPr sz="900">
              <a:solidFill>
                <a:srgbClr val="6B655C"/>
              </a:solidFill>
              <a:latin typeface="IBM Plex Mono Medium"/>
              <a:ea typeface="IBM Plex Mono Medium"/>
              <a:cs typeface="IBM Plex Mono Medium"/>
              <a:sym typeface="IBM Plex Mono Medium"/>
            </a:endParaRPr>
          </a:p>
        </p:txBody>
      </p:sp>
      <p:sp>
        <p:nvSpPr>
          <p:cNvPr id="170" name="Google Shape;170;p16"/>
          <p:cNvSpPr txBox="1"/>
          <p:nvPr/>
        </p:nvSpPr>
        <p:spPr>
          <a:xfrm>
            <a:off x="365760" y="2276856"/>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Small neural net</a:t>
            </a:r>
            <a:endParaRPr sz="1300">
              <a:solidFill>
                <a:srgbClr val="1F1D1A"/>
              </a:solidFill>
              <a:latin typeface="IBM Plex Sans"/>
              <a:ea typeface="IBM Plex Sans"/>
              <a:cs typeface="IBM Plex Sans"/>
              <a:sym typeface="IBM Plex Sans"/>
            </a:endParaRPr>
          </a:p>
        </p:txBody>
      </p:sp>
      <p:sp>
        <p:nvSpPr>
          <p:cNvPr id="171" name="Google Shape;171;p16"/>
          <p:cNvSpPr txBox="1"/>
          <p:nvPr/>
        </p:nvSpPr>
        <p:spPr>
          <a:xfrm>
            <a:off x="365760" y="2606040"/>
            <a:ext cx="2286000" cy="27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rgbClr val="1F1D1A"/>
                </a:solidFill>
                <a:latin typeface="IBM Plex Sans"/>
                <a:ea typeface="IBM Plex Sans"/>
                <a:cs typeface="IBM Plex Sans"/>
                <a:sym typeface="IBM Plex Sans"/>
              </a:rPr>
              <a:t>Text classifier</a:t>
            </a:r>
            <a:endParaRPr sz="1300">
              <a:solidFill>
                <a:srgbClr val="1F1D1A"/>
              </a:solidFill>
              <a:latin typeface="IBM Plex Sans"/>
              <a:ea typeface="IBM Plex Sans"/>
              <a:cs typeface="IBM Plex Sans"/>
              <a:sym typeface="IBM Plex Sans"/>
            </a:endParaRPr>
          </a:p>
        </p:txBody>
      </p:sp>
      <p:sp>
        <p:nvSpPr>
          <p:cNvPr id="172" name="Google Shape;172;p16"/>
          <p:cNvSpPr txBox="1"/>
          <p:nvPr/>
        </p:nvSpPr>
        <p:spPr>
          <a:xfrm>
            <a:off x="6172200" y="1700784"/>
            <a:ext cx="2606100" cy="118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They memorized merchant names.</a:t>
            </a:r>
            <a:r>
              <a:rPr lang="en">
                <a:solidFill>
                  <a:srgbClr val="1F1D1A"/>
                </a:solidFill>
                <a:latin typeface="IBM Plex Sans"/>
                <a:ea typeface="IBM Plex Sans"/>
                <a:cs typeface="IBM Plex Sans"/>
                <a:sym typeface="IBM Plex Sans"/>
              </a:rPr>
              <a:t> On a new one like NETFLIX, the classifier guessed Transport.</a:t>
            </a:r>
            <a:endParaRPr>
              <a:solidFill>
                <a:srgbClr val="1F1D1A"/>
              </a:solidFill>
              <a:latin typeface="IBM Plex Sans"/>
              <a:ea typeface="IBM Plex Sans"/>
              <a:cs typeface="IBM Plex Sans"/>
              <a:sym typeface="IBM Plex Sans"/>
            </a:endParaRPr>
          </a:p>
        </p:txBody>
      </p:sp>
      <p:sp>
        <p:nvSpPr>
          <p:cNvPr id="173" name="Google Shape;173;p16"/>
          <p:cNvSpPr txBox="1"/>
          <p:nvPr/>
        </p:nvSpPr>
        <p:spPr>
          <a:xfrm>
            <a:off x="6172200" y="3017520"/>
            <a:ext cx="2606100" cy="11886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The LLM knew most merchants.</a:t>
            </a:r>
            <a:r>
              <a:rPr lang="en">
                <a:solidFill>
                  <a:srgbClr val="1F1D1A"/>
                </a:solidFill>
                <a:latin typeface="IBM Plex Sans"/>
                <a:ea typeface="IBM Plex Sans"/>
                <a:cs typeface="IBM Plex Sans"/>
                <a:sym typeface="IBM Plex Sans"/>
              </a:rPr>
              <a:t> Every miss was at a mixed store (Target, Costco, Stewart's, Apple).</a:t>
            </a:r>
            <a:endParaRPr>
              <a:solidFill>
                <a:srgbClr val="1F1D1A"/>
              </a:solidFill>
              <a:latin typeface="IBM Plex Sans"/>
              <a:ea typeface="IBM Plex Sans"/>
              <a:cs typeface="IBM Plex Sans"/>
              <a:sym typeface="IBM Plex Sans"/>
            </a:endParaRPr>
          </a:p>
        </p:txBody>
      </p:sp>
      <p:sp>
        <p:nvSpPr>
          <p:cNvPr id="174" name="Google Shape;174;p16"/>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03 · EVIDENCE: TESTING EVERY APPROACH ON THE SAME INPUTS</a:t>
            </a:r>
            <a:endParaRPr sz="1000">
              <a:solidFill>
                <a:srgbClr val="6B655C"/>
              </a:solidFill>
              <a:latin typeface="IBM Plex Mono"/>
              <a:ea typeface="IBM Plex Mono"/>
              <a:cs typeface="IBM Plex Mono"/>
              <a:sym typeface="IBM Plex Mono"/>
            </a:endParaRPr>
          </a:p>
          <a:p>
            <a:pPr indent="0" lvl="0" marL="0" rtl="0" algn="l">
              <a:spcBef>
                <a:spcPts val="0"/>
              </a:spcBef>
              <a:spcAft>
                <a:spcPts val="0"/>
              </a:spcAft>
              <a:buNone/>
            </a:pPr>
            <a:r>
              <a:t/>
            </a:r>
            <a:endParaRPr sz="1000">
              <a:solidFill>
                <a:srgbClr val="6B655C"/>
              </a:solidFill>
              <a:latin typeface="IBM Plex Mono"/>
              <a:ea typeface="IBM Plex Mono"/>
              <a:cs typeface="IBM Plex Mono"/>
              <a:sym typeface="IBM Plex Mono"/>
            </a:endParaRPr>
          </a:p>
        </p:txBody>
      </p:sp>
      <p:sp>
        <p:nvSpPr>
          <p:cNvPr id="175" name="Google Shape;175;p16"/>
          <p:cNvSpPr txBox="1"/>
          <p:nvPr/>
        </p:nvSpPr>
        <p:spPr>
          <a:xfrm>
            <a:off x="2573122" y="1481328"/>
            <a:ext cx="3054000" cy="219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1F1D1A"/>
                </a:solidFill>
                <a:latin typeface="IBM Plex Mono"/>
                <a:ea typeface="IBM Plex Mono"/>
                <a:cs typeface="IBM Plex Mono"/>
                <a:sym typeface="IBM Plex Mono"/>
              </a:rPr>
              <a:t>best possible from the store name: 96%</a:t>
            </a:r>
            <a:endParaRPr sz="900">
              <a:solidFill>
                <a:srgbClr val="1F1D1A"/>
              </a:solidFill>
              <a:latin typeface="IBM Plex Mono"/>
              <a:ea typeface="IBM Plex Mono"/>
              <a:cs typeface="IBM Plex Mono"/>
              <a:sym typeface="IBM Plex Mono"/>
            </a:endParaRPr>
          </a:p>
        </p:txBody>
      </p:sp>
      <p:sp>
        <p:nvSpPr>
          <p:cNvPr id="176" name="Google Shape;176;p16"/>
          <p:cNvSpPr txBox="1"/>
          <p:nvPr/>
        </p:nvSpPr>
        <p:spPr>
          <a:xfrm>
            <a:off x="365760" y="4572000"/>
            <a:ext cx="7772400" cy="3840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950">
                <a:solidFill>
                  <a:srgbClr val="9A9285"/>
                </a:solidFill>
                <a:latin typeface="IBM Plex Sans"/>
                <a:ea typeface="IBM Plex Sans"/>
                <a:cs typeface="IBM Plex Sans"/>
                <a:sym typeface="IBM Plex Sans"/>
              </a:rPr>
              <a:t>Accuracy = picked the same category we did by hand. Trained models: 5-fold cross-validation over 211 transactions. “New” = the store was never in training. Dashed line: 3 charges share a store name with a different purchase.</a:t>
            </a:r>
            <a:endParaRPr sz="950">
              <a:solidFill>
                <a:srgbClr val="9A9285"/>
              </a:solidFill>
              <a:latin typeface="IBM Plex Sans"/>
              <a:ea typeface="IBM Plex Sans"/>
              <a:cs typeface="IBM Plex Sans"/>
              <a:sym typeface="IBM Plex Sans"/>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80" name="Shape 180"/>
        <p:cNvGrpSpPr/>
        <p:nvPr/>
      </p:nvGrpSpPr>
      <p:grpSpPr>
        <a:xfrm>
          <a:off x="0" y="0"/>
          <a:ext cx="0" cy="0"/>
          <a:chOff x="0" y="0"/>
          <a:chExt cx="0" cy="0"/>
        </a:xfrm>
      </p:grpSpPr>
      <p:sp>
        <p:nvSpPr>
          <p:cNvPr id="181" name="Google Shape;181;p17"/>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04 · THE FAILURE THAT CHANGED OUR DESIGN</a:t>
            </a:r>
            <a:endParaRPr sz="1000">
              <a:solidFill>
                <a:srgbClr val="6B655C"/>
              </a:solidFill>
              <a:latin typeface="IBM Plex Mono"/>
              <a:ea typeface="IBM Plex Mono"/>
              <a:cs typeface="IBM Plex Mono"/>
              <a:sym typeface="IBM Plex Mono"/>
            </a:endParaRPr>
          </a:p>
        </p:txBody>
      </p:sp>
      <p:sp>
        <p:nvSpPr>
          <p:cNvPr id="182" name="Google Shape;182;p17"/>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05</a:t>
            </a:r>
            <a:endParaRPr sz="900">
              <a:solidFill>
                <a:srgbClr val="9A9285"/>
              </a:solidFill>
              <a:latin typeface="IBM Plex Mono"/>
              <a:ea typeface="IBM Plex Mono"/>
              <a:cs typeface="IBM Plex Mono"/>
              <a:sym typeface="IBM Plex Mono"/>
            </a:endParaRPr>
          </a:p>
        </p:txBody>
      </p:sp>
      <p:graphicFrame>
        <p:nvGraphicFramePr>
          <p:cNvPr id="183" name="Google Shape;183;p17"/>
          <p:cNvGraphicFramePr/>
          <p:nvPr/>
        </p:nvGraphicFramePr>
        <p:xfrm>
          <a:off x="457200" y="1700784"/>
          <a:ext cx="3000000" cy="3000000"/>
        </p:xfrm>
        <a:graphic>
          <a:graphicData uri="http://schemas.openxmlformats.org/drawingml/2006/table">
            <a:tbl>
              <a:tblPr>
                <a:noFill/>
                <a:tableStyleId>{6BB2B7B9-42E6-43CC-AF5A-983BCAD63E53}</a:tableStyleId>
              </a:tblPr>
              <a:tblGrid>
                <a:gridCol w="2240275"/>
                <a:gridCol w="1188700"/>
                <a:gridCol w="914400"/>
                <a:gridCol w="1371600"/>
              </a:tblGrid>
              <a:tr h="310875">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New merchant</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Classifier said</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r">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Confidence</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Actually</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r>
              <a:tr h="384025">
                <a:tc>
                  <a:txBody>
                    <a:bodyPr/>
                    <a:lstStyle/>
                    <a:p>
                      <a:pPr indent="0" lvl="0" marL="0" rtl="0" algn="l">
                        <a:spcBef>
                          <a:spcPts val="0"/>
                        </a:spcBef>
                        <a:spcAft>
                          <a:spcPts val="0"/>
                        </a:spcAft>
                        <a:buNone/>
                      </a:pPr>
                      <a:r>
                        <a:rPr lang="en" sz="1200">
                          <a:solidFill>
                            <a:srgbClr val="1F1D1A"/>
                          </a:solidFill>
                          <a:latin typeface="IBM Plex Mono"/>
                          <a:ea typeface="IBM Plex Mono"/>
                          <a:cs typeface="IBM Plex Mono"/>
                          <a:sym typeface="IBM Plex Mono"/>
                        </a:rPr>
                        <a:t>UBER *EATS</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Transport</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r">
                        <a:spcBef>
                          <a:spcPts val="0"/>
                        </a:spcBef>
                        <a:spcAft>
                          <a:spcPts val="0"/>
                        </a:spcAft>
                        <a:buNone/>
                      </a:pPr>
                      <a:r>
                        <a:rPr lang="en" sz="1200">
                          <a:solidFill>
                            <a:srgbClr val="1F1D1A"/>
                          </a:solidFill>
                          <a:latin typeface="IBM Plex Mono"/>
                          <a:ea typeface="IBM Plex Mono"/>
                          <a:cs typeface="IBM Plex Mono"/>
                          <a:sym typeface="IBM Plex Mono"/>
                        </a:rPr>
                        <a:t>0.91</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Dining</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r>
              <a:tr h="384025">
                <a:tc>
                  <a:txBody>
                    <a:bodyPr/>
                    <a:lstStyle/>
                    <a:p>
                      <a:pPr indent="0" lvl="0" marL="0" rtl="0" algn="l">
                        <a:spcBef>
                          <a:spcPts val="0"/>
                        </a:spcBef>
                        <a:spcAft>
                          <a:spcPts val="0"/>
                        </a:spcAft>
                        <a:buNone/>
                      </a:pPr>
                      <a:r>
                        <a:rPr lang="en" sz="1200">
                          <a:solidFill>
                            <a:srgbClr val="1F1D1A"/>
                          </a:solidFill>
                          <a:latin typeface="IBM Plex Mono"/>
                          <a:ea typeface="IBM Plex Mono"/>
                          <a:cs typeface="IBM Plex Mono"/>
                          <a:sym typeface="IBM Plex Mono"/>
                        </a:rPr>
                        <a:t>AMAZON PRIME*</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Shopping</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r">
                        <a:spcBef>
                          <a:spcPts val="0"/>
                        </a:spcBef>
                        <a:spcAft>
                          <a:spcPts val="0"/>
                        </a:spcAft>
                        <a:buNone/>
                      </a:pPr>
                      <a:r>
                        <a:rPr lang="en" sz="1200">
                          <a:solidFill>
                            <a:srgbClr val="1F1D1A"/>
                          </a:solidFill>
                          <a:latin typeface="IBM Plex Mono"/>
                          <a:ea typeface="IBM Plex Mono"/>
                          <a:cs typeface="IBM Plex Mono"/>
                          <a:sym typeface="IBM Plex Mono"/>
                        </a:rPr>
                        <a:t>0.91</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Subscriptions</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84025">
                <a:tc>
                  <a:txBody>
                    <a:bodyPr/>
                    <a:lstStyle/>
                    <a:p>
                      <a:pPr indent="0" lvl="0" marL="0" rtl="0" algn="l">
                        <a:spcBef>
                          <a:spcPts val="0"/>
                        </a:spcBef>
                        <a:spcAft>
                          <a:spcPts val="0"/>
                        </a:spcAft>
                        <a:buNone/>
                      </a:pPr>
                      <a:r>
                        <a:rPr lang="en" sz="1200">
                          <a:solidFill>
                            <a:srgbClr val="1F1D1A"/>
                          </a:solidFill>
                          <a:latin typeface="IBM Plex Mono"/>
                          <a:ea typeface="IBM Plex Mono"/>
                          <a:cs typeface="IBM Plex Mono"/>
                          <a:sym typeface="IBM Plex Mono"/>
                        </a:rPr>
                        <a:t>DOORDASH*DASHPASS</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Dining</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r">
                        <a:spcBef>
                          <a:spcPts val="0"/>
                        </a:spcBef>
                        <a:spcAft>
                          <a:spcPts val="0"/>
                        </a:spcAft>
                        <a:buNone/>
                      </a:pPr>
                      <a:r>
                        <a:rPr lang="en" sz="1200">
                          <a:solidFill>
                            <a:srgbClr val="1F1D1A"/>
                          </a:solidFill>
                          <a:latin typeface="IBM Plex Mono"/>
                          <a:ea typeface="IBM Plex Mono"/>
                          <a:cs typeface="IBM Plex Mono"/>
                          <a:sym typeface="IBM Plex Mono"/>
                        </a:rPr>
                        <a:t>0.86</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Subscriptions</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84025">
                <a:tc>
                  <a:txBody>
                    <a:bodyPr/>
                    <a:lstStyle/>
                    <a:p>
                      <a:pPr indent="0" lvl="0" marL="0" rtl="0" algn="l">
                        <a:spcBef>
                          <a:spcPts val="0"/>
                        </a:spcBef>
                        <a:spcAft>
                          <a:spcPts val="0"/>
                        </a:spcAft>
                        <a:buNone/>
                      </a:pPr>
                      <a:r>
                        <a:rPr lang="en" sz="1200">
                          <a:solidFill>
                            <a:srgbClr val="1F1D1A"/>
                          </a:solidFill>
                          <a:latin typeface="IBM Plex Mono"/>
                          <a:ea typeface="IBM Plex Mono"/>
                          <a:cs typeface="IBM Plex Mono"/>
                          <a:sym typeface="IBM Plex Mono"/>
                        </a:rPr>
                        <a:t>UBER *TRIP</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Dining</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r">
                        <a:spcBef>
                          <a:spcPts val="0"/>
                        </a:spcBef>
                        <a:spcAft>
                          <a:spcPts val="0"/>
                        </a:spcAft>
                        <a:buNone/>
                      </a:pPr>
                      <a:r>
                        <a:rPr lang="en" sz="1200">
                          <a:solidFill>
                            <a:srgbClr val="1F1D1A"/>
                          </a:solidFill>
                          <a:latin typeface="IBM Plex Mono"/>
                          <a:ea typeface="IBM Plex Mono"/>
                          <a:cs typeface="IBM Plex Mono"/>
                          <a:sym typeface="IBM Plex Mono"/>
                        </a:rPr>
                        <a:t>0.85</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Transport</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84025">
                <a:tc>
                  <a:txBody>
                    <a:bodyPr/>
                    <a:lstStyle/>
                    <a:p>
                      <a:pPr indent="0" lvl="0" marL="0" rtl="0" algn="l">
                        <a:spcBef>
                          <a:spcPts val="0"/>
                        </a:spcBef>
                        <a:spcAft>
                          <a:spcPts val="0"/>
                        </a:spcAft>
                        <a:buNone/>
                      </a:pPr>
                      <a:r>
                        <a:rPr lang="en" sz="1200">
                          <a:solidFill>
                            <a:srgbClr val="1F1D1A"/>
                          </a:solidFill>
                          <a:latin typeface="IBM Plex Mono"/>
                          <a:ea typeface="IBM Plex Mono"/>
                          <a:cs typeface="IBM Plex Mono"/>
                          <a:sym typeface="IBM Plex Mono"/>
                        </a:rPr>
                        <a:t>TROY PARKING VIOLATION</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B4532A"/>
                          </a:solidFill>
                          <a:latin typeface="IBM Plex Sans"/>
                          <a:ea typeface="IBM Plex Sans"/>
                          <a:cs typeface="IBM Plex Sans"/>
                          <a:sym typeface="IBM Plex Sans"/>
                        </a:rPr>
                        <a:t>Transport</a:t>
                      </a:r>
                      <a:endParaRPr>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r">
                        <a:spcBef>
                          <a:spcPts val="0"/>
                        </a:spcBef>
                        <a:spcAft>
                          <a:spcPts val="0"/>
                        </a:spcAft>
                        <a:buNone/>
                      </a:pPr>
                      <a:r>
                        <a:rPr lang="en" sz="1200">
                          <a:solidFill>
                            <a:srgbClr val="1F1D1A"/>
                          </a:solidFill>
                          <a:latin typeface="IBM Plex Mono"/>
                          <a:ea typeface="IBM Plex Mono"/>
                          <a:cs typeface="IBM Plex Mono"/>
                          <a:sym typeface="IBM Plex Mono"/>
                        </a:rPr>
                        <a:t>0.81</a:t>
                      </a:r>
                      <a:endParaRPr sz="1200">
                        <a:solidFill>
                          <a:srgbClr val="1F1D1A"/>
                        </a:solidFill>
                        <a:latin typeface="IBM Plex Mono"/>
                        <a:ea typeface="IBM Plex Mono"/>
                        <a:cs typeface="IBM Plex Mono"/>
                        <a:sym typeface="IBM Plex Mono"/>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a:solidFill>
                            <a:srgbClr val="1F1D1A"/>
                          </a:solidFill>
                          <a:latin typeface="IBM Plex Sans"/>
                          <a:ea typeface="IBM Plex Sans"/>
                          <a:cs typeface="IBM Plex Sans"/>
                          <a:sym typeface="IBM Plex Sans"/>
                        </a:rPr>
                        <a:t>Fees</a:t>
                      </a:r>
                      <a:endParaRPr>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bl>
          </a:graphicData>
        </a:graphic>
      </p:graphicFrame>
      <p:sp>
        <p:nvSpPr>
          <p:cNvPr id="184" name="Google Shape;184;p17"/>
          <p:cNvSpPr txBox="1"/>
          <p:nvPr/>
        </p:nvSpPr>
        <p:spPr>
          <a:xfrm>
            <a:off x="6309360" y="1572768"/>
            <a:ext cx="2469000" cy="731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4000">
                <a:solidFill>
                  <a:srgbClr val="B4532A"/>
                </a:solidFill>
                <a:latin typeface="IBM Plex Serif SemiBold"/>
                <a:ea typeface="IBM Plex Serif SemiBold"/>
                <a:cs typeface="IBM Plex Serif SemiBold"/>
                <a:sym typeface="IBM Plex Serif SemiBold"/>
              </a:rPr>
              <a:t>0 of 28</a:t>
            </a:r>
            <a:endParaRPr sz="4000">
              <a:solidFill>
                <a:srgbClr val="B4532A"/>
              </a:solidFill>
              <a:latin typeface="IBM Plex Serif SemiBold"/>
              <a:ea typeface="IBM Plex Serif SemiBold"/>
              <a:cs typeface="IBM Plex Serif SemiBold"/>
              <a:sym typeface="IBM Plex Serif SemiBold"/>
            </a:endParaRPr>
          </a:p>
        </p:txBody>
      </p:sp>
      <p:sp>
        <p:nvSpPr>
          <p:cNvPr id="185" name="Google Shape;185;p17"/>
          <p:cNvSpPr txBox="1"/>
          <p:nvPr/>
        </p:nvSpPr>
        <p:spPr>
          <a:xfrm>
            <a:off x="6309360" y="3072384"/>
            <a:ext cx="2469000" cy="822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6B655C"/>
                </a:solidFill>
                <a:latin typeface="IBM Plex Sans"/>
                <a:ea typeface="IBM Plex Sans"/>
                <a:cs typeface="IBM Plex Sans"/>
                <a:sym typeface="IBM Plex Sans"/>
              </a:rPr>
              <a:t>Similarity search did the same: </a:t>
            </a:r>
            <a:r>
              <a:rPr lang="en" sz="1150">
                <a:solidFill>
                  <a:srgbClr val="6B655C"/>
                </a:solidFill>
                <a:latin typeface="IBM Plex Mono"/>
                <a:ea typeface="IBM Plex Mono"/>
                <a:cs typeface="IBM Plex Mono"/>
                <a:sym typeface="IBM Plex Mono"/>
              </a:rPr>
              <a:t>UBER *EATS</a:t>
            </a:r>
            <a:r>
              <a:rPr lang="en" sz="1300">
                <a:solidFill>
                  <a:srgbClr val="6B655C"/>
                </a:solidFill>
                <a:latin typeface="IBM Plex Sans"/>
                <a:ea typeface="IBM Plex Sans"/>
                <a:cs typeface="IBM Plex Sans"/>
                <a:sym typeface="IBM Plex Sans"/>
              </a:rPr>
              <a:t> and </a:t>
            </a:r>
            <a:r>
              <a:rPr lang="en" sz="1150">
                <a:solidFill>
                  <a:srgbClr val="6B655C"/>
                </a:solidFill>
                <a:latin typeface="IBM Plex Mono"/>
                <a:ea typeface="IBM Plex Mono"/>
                <a:cs typeface="IBM Plex Mono"/>
                <a:sym typeface="IBM Plex Mono"/>
              </a:rPr>
              <a:t>UBER *TRIP</a:t>
            </a:r>
            <a:r>
              <a:rPr lang="en" sz="1300">
                <a:solidFill>
                  <a:srgbClr val="6B655C"/>
                </a:solidFill>
                <a:latin typeface="IBM Plex Sans"/>
                <a:ea typeface="IBM Plex Sans"/>
                <a:cs typeface="IBM Plex Sans"/>
                <a:sym typeface="IBM Plex Sans"/>
              </a:rPr>
              <a:t> score 0.80.</a:t>
            </a:r>
            <a:endParaRPr sz="1300">
              <a:solidFill>
                <a:srgbClr val="6B655C"/>
              </a:solidFill>
              <a:latin typeface="IBM Plex Sans"/>
              <a:ea typeface="IBM Plex Sans"/>
              <a:cs typeface="IBM Plex Sans"/>
              <a:sym typeface="IBM Plex Sans"/>
            </a:endParaRPr>
          </a:p>
        </p:txBody>
      </p:sp>
      <p:sp>
        <p:nvSpPr>
          <p:cNvPr id="186" name="Google Shape;186;p17"/>
          <p:cNvSpPr/>
          <p:nvPr/>
        </p:nvSpPr>
        <p:spPr>
          <a:xfrm>
            <a:off x="457200" y="4005072"/>
            <a:ext cx="8229600" cy="6402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7" name="Google Shape;187;p17"/>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On new merchants, the classifier's most confident answers were all wrong</a:t>
            </a:r>
            <a:endParaRPr sz="2800">
              <a:solidFill>
                <a:srgbClr val="1F1D1A"/>
              </a:solidFill>
              <a:latin typeface="IBM Plex Serif SemiBold"/>
              <a:ea typeface="IBM Plex Serif SemiBold"/>
              <a:cs typeface="IBM Plex Serif SemiBold"/>
              <a:sym typeface="IBM Plex Serif SemiBold"/>
            </a:endParaRPr>
          </a:p>
        </p:txBody>
      </p:sp>
      <p:sp>
        <p:nvSpPr>
          <p:cNvPr id="188" name="Google Shape;188;p17"/>
          <p:cNvSpPr txBox="1"/>
          <p:nvPr/>
        </p:nvSpPr>
        <p:spPr>
          <a:xfrm>
            <a:off x="6309360" y="2286000"/>
            <a:ext cx="2469000" cy="731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a:ea typeface="IBM Plex Sans"/>
                <a:cs typeface="IBM Plex Sans"/>
                <a:sym typeface="IBM Plex Sans"/>
              </a:rPr>
              <a:t>confident guesses (above 0.70) were right, over all 3 months</a:t>
            </a:r>
            <a:endParaRPr>
              <a:solidFill>
                <a:srgbClr val="1F1D1A"/>
              </a:solidFill>
              <a:latin typeface="IBM Plex Sans"/>
              <a:ea typeface="IBM Plex Sans"/>
              <a:cs typeface="IBM Plex Sans"/>
              <a:sym typeface="IBM Plex Sans"/>
            </a:endParaRPr>
          </a:p>
        </p:txBody>
      </p:sp>
      <p:sp>
        <p:nvSpPr>
          <p:cNvPr id="189" name="Google Shape;189;p17"/>
          <p:cNvSpPr txBox="1"/>
          <p:nvPr/>
        </p:nvSpPr>
        <p:spPr>
          <a:xfrm>
            <a:off x="566928" y="4069080"/>
            <a:ext cx="8046600" cy="5304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The scores from our trained models can't tell us when to ask the student.</a:t>
            </a:r>
            <a:r>
              <a:rPr lang="en">
                <a:solidFill>
                  <a:srgbClr val="1F1D1A"/>
                </a:solidFill>
                <a:latin typeface="IBM Plex Sans"/>
                <a:ea typeface="IBM Plex Sans"/>
                <a:cs typeface="IBM Plex Sans"/>
                <a:sym typeface="IBM Plex Sans"/>
              </a:rPr>
              <a:t> We need a signal that goes up when the text is actually unclear.</a:t>
            </a:r>
            <a:endParaRPr>
              <a:solidFill>
                <a:srgbClr val="1F1D1A"/>
              </a:solidFill>
              <a:latin typeface="IBM Plex Sans"/>
              <a:ea typeface="IBM Plex Sans"/>
              <a:cs typeface="IBM Plex Sans"/>
              <a:sym typeface="IBM Plex Sans"/>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193" name="Shape 193"/>
        <p:cNvGrpSpPr/>
        <p:nvPr/>
      </p:nvGrpSpPr>
      <p:grpSpPr>
        <a:xfrm>
          <a:off x="0" y="0"/>
          <a:ext cx="0" cy="0"/>
          <a:chOff x="0" y="0"/>
          <a:chExt cx="0" cy="0"/>
        </a:xfrm>
      </p:grpSpPr>
      <p:sp>
        <p:nvSpPr>
          <p:cNvPr id="194" name="Google Shape;194;p18"/>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06</a:t>
            </a:r>
            <a:endParaRPr sz="900">
              <a:solidFill>
                <a:srgbClr val="9A9285"/>
              </a:solidFill>
              <a:latin typeface="IBM Plex Mono"/>
              <a:ea typeface="IBM Plex Mono"/>
              <a:cs typeface="IBM Plex Mono"/>
              <a:sym typeface="IBM Plex Mono"/>
            </a:endParaRPr>
          </a:p>
        </p:txBody>
      </p:sp>
      <p:graphicFrame>
        <p:nvGraphicFramePr>
          <p:cNvPr id="195" name="Google Shape;195;p18"/>
          <p:cNvGraphicFramePr/>
          <p:nvPr/>
        </p:nvGraphicFramePr>
        <p:xfrm>
          <a:off x="457200" y="1645920"/>
          <a:ext cx="3000000" cy="3000000"/>
        </p:xfrm>
        <a:graphic>
          <a:graphicData uri="http://schemas.openxmlformats.org/drawingml/2006/table">
            <a:tbl>
              <a:tblPr>
                <a:noFill/>
                <a:tableStyleId>{6BB2B7B9-42E6-43CC-AF5A-983BCAD63E53}</a:tableStyleId>
              </a:tblPr>
              <a:tblGrid>
                <a:gridCol w="1371600"/>
                <a:gridCol w="3017500"/>
              </a:tblGrid>
              <a:tr h="310875">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Condition</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Result</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No statement</a:t>
                      </a:r>
                      <a:endParaRPr sz="12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F1D1A"/>
                          </a:solidFill>
                          <a:latin typeface="IBM Plex Sans"/>
                          <a:ea typeface="IBM Plex Sans"/>
                          <a:cs typeface="IBM Plex Sans"/>
                          <a:sym typeface="IBM Plex Sans"/>
                        </a:rPr>
                        <a:t>Didn't guess: “I can't see your spending from here.”</a:t>
                      </a:r>
                      <a:endParaRPr sz="12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Statement,</a:t>
                      </a:r>
                      <a:endParaRPr sz="1200">
                        <a:solidFill>
                          <a:srgbClr val="1F1D1A"/>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small model ×3</a:t>
                      </a:r>
                      <a:endParaRPr sz="12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63 of 68</a:t>
                      </a:r>
                      <a:r>
                        <a:rPr lang="en" sz="1200">
                          <a:solidFill>
                            <a:srgbClr val="1F1D1A"/>
                          </a:solidFill>
                          <a:latin typeface="IBM Plex Sans"/>
                          <a:ea typeface="IBM Plex Sans"/>
                          <a:cs typeface="IBM Plex Sans"/>
                          <a:sym typeface="IBM Plex Sans"/>
                        </a:rPr>
                        <a:t> right, identical in all 3 runs. Total </a:t>
                      </a:r>
                      <a:r>
                        <a:rPr lang="en" sz="1200">
                          <a:solidFill>
                            <a:srgbClr val="1F1D1A"/>
                          </a:solidFill>
                          <a:latin typeface="IBM Plex Sans SemiBold"/>
                          <a:ea typeface="IBM Plex Sans SemiBold"/>
                          <a:cs typeface="IBM Plex Sans SemiBold"/>
                          <a:sym typeface="IBM Plex Sans SemiBold"/>
                        </a:rPr>
                        <a:t>$2,053.54</a:t>
                      </a:r>
                      <a:r>
                        <a:rPr lang="en" sz="1200">
                          <a:solidFill>
                            <a:srgbClr val="1F1D1A"/>
                          </a:solidFill>
                          <a:latin typeface="IBM Plex Sans"/>
                          <a:ea typeface="IBM Plex Sans"/>
                          <a:cs typeface="IBM Plex Sans"/>
                          <a:sym typeface="IBM Plex Sans"/>
                        </a:rPr>
                        <a:t>, same as our code.</a:t>
                      </a:r>
                      <a:endParaRPr sz="12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Statement,</a:t>
                      </a:r>
                      <a:endParaRPr sz="1200">
                        <a:solidFill>
                          <a:srgbClr val="1F1D1A"/>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large model</a:t>
                      </a:r>
                      <a:endParaRPr sz="12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64 of 68</a:t>
                      </a:r>
                      <a:r>
                        <a:rPr lang="en" sz="1200">
                          <a:solidFill>
                            <a:srgbClr val="1F1D1A"/>
                          </a:solidFill>
                          <a:latin typeface="IBM Plex Sans"/>
                          <a:ea typeface="IBM Plex Sans"/>
                          <a:cs typeface="IBM Plex Sans"/>
                          <a:sym typeface="IBM Plex Sans"/>
                        </a:rPr>
                        <a:t>, one short of the limit. All 4 misses marked unsure.</a:t>
                      </a:r>
                      <a:endParaRPr sz="12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Our numbers</a:t>
                      </a:r>
                      <a:endParaRPr sz="1200">
                        <a:solidFill>
                          <a:srgbClr val="1F1D1A"/>
                        </a:solidFill>
                        <a:latin typeface="IBM Plex Sans SemiBold"/>
                        <a:ea typeface="IBM Plex Sans SemiBold"/>
                        <a:cs typeface="IBM Plex Sans SemiBold"/>
                        <a:sym typeface="IBM Plex Sans SemiBold"/>
                      </a:endParaRPr>
                    </a:p>
                    <a:p>
                      <a:pPr indent="0" lvl="0" marL="0" rtl="0" algn="l">
                        <a:spcBef>
                          <a:spcPts val="0"/>
                        </a:spcBef>
                        <a:spcAft>
                          <a:spcPts val="0"/>
                        </a:spcAft>
                        <a:buNone/>
                      </a:pPr>
                      <a:r>
                        <a:rPr lang="en" sz="1200">
                          <a:solidFill>
                            <a:srgbClr val="1F1D1A"/>
                          </a:solidFill>
                          <a:latin typeface="IBM Plex Sans SemiBold"/>
                          <a:ea typeface="IBM Plex Sans SemiBold"/>
                          <a:cs typeface="IBM Plex Sans SemiBold"/>
                          <a:sym typeface="IBM Plex Sans SemiBold"/>
                        </a:rPr>
                        <a:t>only</a:t>
                      </a:r>
                      <a:endParaRPr sz="12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200">
                          <a:solidFill>
                            <a:srgbClr val="1F1D1A"/>
                          </a:solidFill>
                          <a:latin typeface="IBM Plex Sans"/>
                          <a:ea typeface="IBM Plex Sans"/>
                          <a:cs typeface="IBM Plex Sans"/>
                          <a:sym typeface="IBM Plex Sans"/>
                        </a:rPr>
                        <a:t>Stuck to our numbers and asked about the guesses we flagged.</a:t>
                      </a:r>
                      <a:endParaRPr sz="12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bl>
          </a:graphicData>
        </a:graphic>
      </p:graphicFrame>
      <p:sp>
        <p:nvSpPr>
          <p:cNvPr id="196" name="Google Shape;196;p18"/>
          <p:cNvSpPr/>
          <p:nvPr/>
        </p:nvSpPr>
        <p:spPr>
          <a:xfrm>
            <a:off x="5074925" y="1645925"/>
            <a:ext cx="3566100" cy="29019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 name="Google Shape;197;p18"/>
          <p:cNvSpPr txBox="1"/>
          <p:nvPr/>
        </p:nvSpPr>
        <p:spPr>
          <a:xfrm>
            <a:off x="5166360" y="1792224"/>
            <a:ext cx="2377500" cy="1664100"/>
          </a:xfrm>
          <a:prstGeom prst="rect">
            <a:avLst/>
          </a:prstGeom>
          <a:noFill/>
          <a:ln>
            <a:noFill/>
          </a:ln>
        </p:spPr>
        <p:txBody>
          <a:bodyPr anchorCtr="0" anchor="t" bIns="91425" lIns="91425" spcFirstLastPara="1" rIns="91425" wrap="square" tIns="91425">
            <a:noAutofit/>
          </a:bodyPr>
          <a:lstStyle/>
          <a:p>
            <a:pPr indent="0" lvl="0" marL="0" rtl="0" algn="l">
              <a:lnSpc>
                <a:spcPct val="128000"/>
              </a:lnSpc>
              <a:spcBef>
                <a:spcPts val="0"/>
              </a:spcBef>
              <a:spcAft>
                <a:spcPts val="0"/>
              </a:spcAft>
              <a:buNone/>
            </a:pPr>
            <a:r>
              <a:rPr lang="en" sz="900">
                <a:solidFill>
                  <a:srgbClr val="6B655C"/>
                </a:solidFill>
                <a:latin typeface="IBM Plex Mono"/>
                <a:ea typeface="IBM Plex Mono"/>
                <a:cs typeface="IBM Plex Mono"/>
                <a:sym typeface="IBM Plex Mono"/>
              </a:rPr>
              <a:t>LLM OUTPUT, RUN 1 (EXCERPT)</a:t>
            </a:r>
            <a:endParaRPr sz="900">
              <a:solidFill>
                <a:srgbClr val="6B655C"/>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22 | Dining        | sure</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39 | Health        | sure</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26 | Subscriptions | sure</a:t>
            </a:r>
            <a:endParaRPr sz="1000">
              <a:solidFill>
                <a:srgbClr val="1F1D1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14 | Groceries     | </a:t>
            </a:r>
            <a:r>
              <a:rPr lang="en" sz="1000">
                <a:solidFill>
                  <a:srgbClr val="B4532A"/>
                </a:solidFill>
                <a:latin typeface="IBM Plex Mono"/>
                <a:ea typeface="IBM Plex Mono"/>
                <a:cs typeface="IBM Plex Mono"/>
                <a:sym typeface="IBM Plex Mono"/>
              </a:rPr>
              <a:t>unsure</a:t>
            </a:r>
            <a:endParaRPr sz="1000">
              <a:solidFill>
                <a:srgbClr val="B4532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18 | Shopping      | </a:t>
            </a:r>
            <a:r>
              <a:rPr lang="en" sz="1000">
                <a:solidFill>
                  <a:srgbClr val="B4532A"/>
                </a:solidFill>
                <a:latin typeface="IBM Plex Mono"/>
                <a:ea typeface="IBM Plex Mono"/>
                <a:cs typeface="IBM Plex Mono"/>
                <a:sym typeface="IBM Plex Mono"/>
              </a:rPr>
              <a:t>unsure</a:t>
            </a:r>
            <a:endParaRPr sz="1000">
              <a:solidFill>
                <a:srgbClr val="B4532A"/>
              </a:solidFill>
              <a:latin typeface="IBM Plex Mono"/>
              <a:ea typeface="IBM Plex Mono"/>
              <a:cs typeface="IBM Plex Mono"/>
              <a:sym typeface="IBM Plex Mono"/>
            </a:endParaRPr>
          </a:p>
          <a:p>
            <a:pPr indent="0" lvl="0" marL="0" rtl="0" algn="l">
              <a:lnSpc>
                <a:spcPct val="128000"/>
              </a:lnSpc>
              <a:spcBef>
                <a:spcPts val="0"/>
              </a:spcBef>
              <a:spcAft>
                <a:spcPts val="0"/>
              </a:spcAft>
              <a:buNone/>
            </a:pPr>
            <a:r>
              <a:rPr lang="en" sz="1000">
                <a:solidFill>
                  <a:srgbClr val="1F1D1A"/>
                </a:solidFill>
                <a:latin typeface="IBM Plex Mono"/>
                <a:ea typeface="IBM Plex Mono"/>
                <a:cs typeface="IBM Plex Mono"/>
                <a:sym typeface="IBM Plex Mono"/>
              </a:rPr>
              <a:t>66 | Groceries     | </a:t>
            </a:r>
            <a:r>
              <a:rPr lang="en" sz="1000">
                <a:solidFill>
                  <a:srgbClr val="B4532A"/>
                </a:solidFill>
                <a:latin typeface="IBM Plex Mono"/>
                <a:ea typeface="IBM Plex Mono"/>
                <a:cs typeface="IBM Plex Mono"/>
                <a:sym typeface="IBM Plex Mono"/>
              </a:rPr>
              <a:t>unsure</a:t>
            </a:r>
            <a:endParaRPr sz="1000">
              <a:solidFill>
                <a:srgbClr val="B4532A"/>
              </a:solidFill>
              <a:latin typeface="IBM Plex Mono"/>
              <a:ea typeface="IBM Plex Mono"/>
              <a:cs typeface="IBM Plex Mono"/>
              <a:sym typeface="IBM Plex Mono"/>
            </a:endParaRPr>
          </a:p>
        </p:txBody>
      </p:sp>
      <p:sp>
        <p:nvSpPr>
          <p:cNvPr id="198" name="Google Shape;198;p18"/>
          <p:cNvSpPr txBox="1"/>
          <p:nvPr/>
        </p:nvSpPr>
        <p:spPr>
          <a:xfrm>
            <a:off x="7379208" y="1792224"/>
            <a:ext cx="1261800" cy="1664100"/>
          </a:xfrm>
          <a:prstGeom prst="rect">
            <a:avLst/>
          </a:prstGeom>
          <a:noFill/>
          <a:ln>
            <a:noFill/>
          </a:ln>
        </p:spPr>
        <p:txBody>
          <a:bodyPr anchorCtr="0" anchor="t" bIns="91425" lIns="91425" spcFirstLastPara="1" rIns="91425" wrap="square" tIns="91425">
            <a:noAutofit/>
          </a:bodyPr>
          <a:lstStyle/>
          <a:p>
            <a:pPr indent="0" lvl="0" marL="0" rtl="0" algn="l">
              <a:lnSpc>
                <a:spcPct val="142000"/>
              </a:lnSpc>
              <a:spcBef>
                <a:spcPts val="0"/>
              </a:spcBef>
              <a:spcAft>
                <a:spcPts val="0"/>
              </a:spcAft>
              <a:buNone/>
            </a:pPr>
            <a:r>
              <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LITTLE MOMO</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PLANET FIT</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DASHPASS</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Stewart's: gas</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Target: food</a:t>
            </a:r>
            <a:endParaRPr sz="900">
              <a:solidFill>
                <a:srgbClr val="6B655C"/>
              </a:solidFill>
              <a:latin typeface="IBM Plex Mono"/>
              <a:ea typeface="IBM Plex Mono"/>
              <a:cs typeface="IBM Plex Mono"/>
              <a:sym typeface="IBM Plex Mono"/>
            </a:endParaRPr>
          </a:p>
          <a:p>
            <a:pPr indent="0" lvl="0" marL="0" rtl="0" algn="l">
              <a:lnSpc>
                <a:spcPct val="142000"/>
              </a:lnSpc>
              <a:spcBef>
                <a:spcPts val="0"/>
              </a:spcBef>
              <a:spcAft>
                <a:spcPts val="0"/>
              </a:spcAft>
              <a:buNone/>
            </a:pPr>
            <a:r>
              <a:rPr lang="en" sz="900">
                <a:solidFill>
                  <a:srgbClr val="6B655C"/>
                </a:solidFill>
                <a:latin typeface="IBM Plex Mono"/>
                <a:ea typeface="IBM Plex Mono"/>
                <a:cs typeface="IBM Plex Mono"/>
                <a:sym typeface="IBM Plex Mono"/>
              </a:rPr>
              <a:t>Costco: chair</a:t>
            </a:r>
            <a:endParaRPr sz="900">
              <a:solidFill>
                <a:srgbClr val="6B655C"/>
              </a:solidFill>
              <a:latin typeface="IBM Plex Mono"/>
              <a:ea typeface="IBM Plex Mono"/>
              <a:cs typeface="IBM Plex Mono"/>
              <a:sym typeface="IBM Plex Mono"/>
            </a:endParaRPr>
          </a:p>
        </p:txBody>
      </p:sp>
      <p:cxnSp>
        <p:nvCxnSpPr>
          <p:cNvPr id="199" name="Google Shape;199;p18"/>
          <p:cNvCxnSpPr/>
          <p:nvPr/>
        </p:nvCxnSpPr>
        <p:spPr>
          <a:xfrm>
            <a:off x="5257800" y="3493008"/>
            <a:ext cx="3246000" cy="12600"/>
          </a:xfrm>
          <a:prstGeom prst="straightConnector1">
            <a:avLst/>
          </a:prstGeom>
          <a:noFill/>
          <a:ln cap="flat" cmpd="sng" w="9525">
            <a:solidFill>
              <a:srgbClr val="D3CBBC"/>
            </a:solidFill>
            <a:prstDash val="solid"/>
            <a:round/>
            <a:headEnd len="med" w="med" type="none"/>
            <a:tailEnd len="med" w="med" type="none"/>
          </a:ln>
        </p:spPr>
      </p:cxnSp>
      <p:sp>
        <p:nvSpPr>
          <p:cNvPr id="200" name="Google Shape;200;p18"/>
          <p:cNvSpPr txBox="1"/>
          <p:nvPr/>
        </p:nvSpPr>
        <p:spPr>
          <a:xfrm>
            <a:off x="5166360" y="3584448"/>
            <a:ext cx="3429000" cy="658500"/>
          </a:xfrm>
          <a:prstGeom prst="rect">
            <a:avLst/>
          </a:prstGeom>
          <a:noFill/>
          <a:ln>
            <a:noFill/>
          </a:ln>
        </p:spPr>
        <p:txBody>
          <a:bodyPr anchorCtr="0" anchor="t" bIns="91425" lIns="91425" spcFirstLastPara="1" rIns="91425" wrap="square" tIns="91425">
            <a:noAutofit/>
          </a:bodyPr>
          <a:lstStyle/>
          <a:p>
            <a:pPr indent="0" lvl="0" marL="0" rtl="0" algn="l">
              <a:lnSpc>
                <a:spcPct val="125000"/>
              </a:lnSpc>
              <a:spcBef>
                <a:spcPts val="0"/>
              </a:spcBef>
              <a:spcAft>
                <a:spcPts val="0"/>
              </a:spcAft>
              <a:buNone/>
            </a:pPr>
            <a:r>
              <a:rPr lang="en" sz="1300">
                <a:solidFill>
                  <a:srgbClr val="1F1D1A"/>
                </a:solidFill>
                <a:latin typeface="IBM Plex Sans"/>
                <a:ea typeface="IBM Plex Sans"/>
                <a:cs typeface="IBM Plex Sans"/>
                <a:sym typeface="IBM Plex Sans"/>
              </a:rPr>
              <a:t>When run 1 said sure: </a:t>
            </a:r>
            <a:r>
              <a:rPr lang="en" sz="1300">
                <a:solidFill>
                  <a:srgbClr val="2F6B4F"/>
                </a:solidFill>
                <a:latin typeface="IBM Plex Sans SemiBold"/>
                <a:ea typeface="IBM Plex Sans SemiBold"/>
                <a:cs typeface="IBM Plex Sans SemiBold"/>
                <a:sym typeface="IBM Plex Sans SemiBold"/>
              </a:rPr>
              <a:t>58 of 59</a:t>
            </a:r>
            <a:r>
              <a:rPr lang="en" sz="1300">
                <a:solidFill>
                  <a:srgbClr val="1F1D1A"/>
                </a:solidFill>
                <a:latin typeface="IBM Plex Sans"/>
                <a:ea typeface="IBM Plex Sans"/>
                <a:cs typeface="IBM Plex Sans"/>
                <a:sym typeface="IBM Plex Sans"/>
              </a:rPr>
              <a:t> right</a:t>
            </a:r>
            <a:endParaRPr sz="1300">
              <a:solidFill>
                <a:srgbClr val="1F1D1A"/>
              </a:solidFill>
              <a:latin typeface="IBM Plex Sans"/>
              <a:ea typeface="IBM Plex Sans"/>
              <a:cs typeface="IBM Plex Sans"/>
              <a:sym typeface="IBM Plex Sans"/>
            </a:endParaRPr>
          </a:p>
          <a:p>
            <a:pPr indent="0" lvl="0" marL="0" rtl="0" algn="l">
              <a:lnSpc>
                <a:spcPct val="125000"/>
              </a:lnSpc>
              <a:spcBef>
                <a:spcPts val="0"/>
              </a:spcBef>
              <a:spcAft>
                <a:spcPts val="0"/>
              </a:spcAft>
              <a:buNone/>
            </a:pPr>
            <a:r>
              <a:rPr lang="en" sz="1300">
                <a:solidFill>
                  <a:srgbClr val="1F1D1A"/>
                </a:solidFill>
                <a:latin typeface="IBM Plex Sans"/>
                <a:ea typeface="IBM Plex Sans"/>
                <a:cs typeface="IBM Plex Sans"/>
                <a:sym typeface="IBM Plex Sans"/>
              </a:rPr>
              <a:t>When it said unsure: </a:t>
            </a:r>
            <a:r>
              <a:rPr lang="en" sz="1300">
                <a:solidFill>
                  <a:srgbClr val="B4532A"/>
                </a:solidFill>
                <a:latin typeface="IBM Plex Sans SemiBold"/>
                <a:ea typeface="IBM Plex Sans SemiBold"/>
                <a:cs typeface="IBM Plex Sans SemiBold"/>
                <a:sym typeface="IBM Plex Sans SemiBold"/>
              </a:rPr>
              <a:t>5 of 9</a:t>
            </a:r>
            <a:r>
              <a:rPr lang="en" sz="1300">
                <a:solidFill>
                  <a:srgbClr val="1F1D1A"/>
                </a:solidFill>
                <a:latin typeface="IBM Plex Sans"/>
                <a:ea typeface="IBM Plex Sans"/>
                <a:cs typeface="IBM Plex Sans"/>
                <a:sym typeface="IBM Plex Sans"/>
              </a:rPr>
              <a:t> right</a:t>
            </a:r>
            <a:endParaRPr sz="1300">
              <a:solidFill>
                <a:srgbClr val="1F1D1A"/>
              </a:solidFill>
              <a:latin typeface="IBM Plex Sans"/>
              <a:ea typeface="IBM Plex Sans"/>
              <a:cs typeface="IBM Plex Sans"/>
              <a:sym typeface="IBM Plex Sans"/>
            </a:endParaRPr>
          </a:p>
        </p:txBody>
      </p:sp>
      <p:sp>
        <p:nvSpPr>
          <p:cNvPr id="201" name="Google Shape;201;p18"/>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05 · LLM TEST UNDER DIFFERENT CONDITIONS</a:t>
            </a:r>
            <a:endParaRPr sz="1000">
              <a:solidFill>
                <a:srgbClr val="6B655C"/>
              </a:solidFill>
              <a:latin typeface="IBM Plex Mono"/>
              <a:ea typeface="IBM Plex Mono"/>
              <a:cs typeface="IBM Plex Mono"/>
              <a:sym typeface="IBM Plex Mono"/>
            </a:endParaRPr>
          </a:p>
        </p:txBody>
      </p:sp>
      <p:sp>
        <p:nvSpPr>
          <p:cNvPr id="202" name="Google Shape;202;p18"/>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The LLM got 63 of 68 categories right and matched our total to the cent</a:t>
            </a:r>
            <a:endParaRPr sz="2800">
              <a:solidFill>
                <a:srgbClr val="1F1D1A"/>
              </a:solidFill>
              <a:latin typeface="IBM Plex Serif SemiBold"/>
              <a:ea typeface="IBM Plex Serif SemiBold"/>
              <a:cs typeface="IBM Plex Serif SemiBold"/>
              <a:sym typeface="IBM Plex Serif SemiBold"/>
            </a:endParaRPr>
          </a:p>
        </p:txBody>
      </p:sp>
      <p:sp>
        <p:nvSpPr>
          <p:cNvPr id="203" name="Google Shape;203;p18"/>
          <p:cNvSpPr txBox="1"/>
          <p:nvPr/>
        </p:nvSpPr>
        <p:spPr>
          <a:xfrm>
            <a:off x="365760" y="4681728"/>
            <a:ext cx="7772400" cy="274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950">
                <a:solidFill>
                  <a:srgbClr val="9A9285"/>
                </a:solidFill>
                <a:latin typeface="IBM Plex Sans"/>
                <a:ea typeface="IBM Plex Sans"/>
                <a:cs typeface="IBM Plex Sans"/>
                <a:sym typeface="IBM Plex Sans"/>
              </a:rPr>
              <a:t>Every row uses Claude Haiku 5.5 except the large model (Claude Opus 5.5). No tools. Grey notes are ours.</a:t>
            </a:r>
            <a:endParaRPr sz="950">
              <a:solidFill>
                <a:srgbClr val="9A9285"/>
              </a:solidFill>
              <a:latin typeface="IBM Plex Sans"/>
              <a:ea typeface="IBM Plex Sans"/>
              <a:cs typeface="IBM Plex Sans"/>
              <a:sym typeface="IBM Plex Sans"/>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207" name="Shape 207"/>
        <p:cNvGrpSpPr/>
        <p:nvPr/>
      </p:nvGrpSpPr>
      <p:grpSpPr>
        <a:xfrm>
          <a:off x="0" y="0"/>
          <a:ext cx="0" cy="0"/>
          <a:chOff x="0" y="0"/>
          <a:chExt cx="0" cy="0"/>
        </a:xfrm>
      </p:grpSpPr>
      <p:sp>
        <p:nvSpPr>
          <p:cNvPr id="208" name="Google Shape;208;p19"/>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06 · ADOPT / MODIFY / REJECT / DEFER</a:t>
            </a:r>
            <a:endParaRPr sz="1000">
              <a:solidFill>
                <a:srgbClr val="6B655C"/>
              </a:solidFill>
              <a:latin typeface="IBM Plex Mono"/>
              <a:ea typeface="IBM Plex Mono"/>
              <a:cs typeface="IBM Plex Mono"/>
              <a:sym typeface="IBM Plex Mono"/>
            </a:endParaRPr>
          </a:p>
        </p:txBody>
      </p:sp>
      <p:sp>
        <p:nvSpPr>
          <p:cNvPr id="209" name="Google Shape;209;p19"/>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07</a:t>
            </a:r>
            <a:endParaRPr sz="900">
              <a:solidFill>
                <a:srgbClr val="9A9285"/>
              </a:solidFill>
              <a:latin typeface="IBM Plex Mono"/>
              <a:ea typeface="IBM Plex Mono"/>
              <a:cs typeface="IBM Plex Mono"/>
              <a:sym typeface="IBM Plex Mono"/>
            </a:endParaRPr>
          </a:p>
        </p:txBody>
      </p:sp>
      <p:cxnSp>
        <p:nvCxnSpPr>
          <p:cNvPr id="210" name="Google Shape;210;p19"/>
          <p:cNvCxnSpPr/>
          <p:nvPr/>
        </p:nvCxnSpPr>
        <p:spPr>
          <a:xfrm>
            <a:off x="4572000" y="1627632"/>
            <a:ext cx="12600" cy="3035700"/>
          </a:xfrm>
          <a:prstGeom prst="straightConnector1">
            <a:avLst/>
          </a:prstGeom>
          <a:noFill/>
          <a:ln cap="flat" cmpd="sng" w="9525">
            <a:solidFill>
              <a:srgbClr val="D3CBBC"/>
            </a:solidFill>
            <a:prstDash val="solid"/>
            <a:round/>
            <a:headEnd len="med" w="med" type="none"/>
            <a:tailEnd len="med" w="med" type="none"/>
          </a:ln>
        </p:spPr>
      </p:cxnSp>
      <p:cxnSp>
        <p:nvCxnSpPr>
          <p:cNvPr id="211" name="Google Shape;211;p19"/>
          <p:cNvCxnSpPr/>
          <p:nvPr/>
        </p:nvCxnSpPr>
        <p:spPr>
          <a:xfrm>
            <a:off x="457200" y="3145536"/>
            <a:ext cx="8229600" cy="12600"/>
          </a:xfrm>
          <a:prstGeom prst="straightConnector1">
            <a:avLst/>
          </a:prstGeom>
          <a:noFill/>
          <a:ln cap="flat" cmpd="sng" w="9525">
            <a:solidFill>
              <a:srgbClr val="D3CBBC"/>
            </a:solidFill>
            <a:prstDash val="solid"/>
            <a:round/>
            <a:headEnd len="med" w="med" type="none"/>
            <a:tailEnd len="med" w="med" type="none"/>
          </a:ln>
        </p:spPr>
      </p:cxnSp>
      <p:sp>
        <p:nvSpPr>
          <p:cNvPr id="212" name="Google Shape;212;p19"/>
          <p:cNvSpPr/>
          <p:nvPr/>
        </p:nvSpPr>
        <p:spPr>
          <a:xfrm>
            <a:off x="457200" y="1627632"/>
            <a:ext cx="1024200" cy="274200"/>
          </a:xfrm>
          <a:prstGeom prst="rect">
            <a:avLst/>
          </a:prstGeom>
          <a:noFill/>
          <a:ln cap="flat" cmpd="sng" w="15875">
            <a:solidFill>
              <a:srgbClr val="2F6B4F"/>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2F6B4F"/>
                </a:solidFill>
                <a:latin typeface="IBM Plex Mono SemiBold"/>
                <a:ea typeface="IBM Plex Mono SemiBold"/>
                <a:cs typeface="IBM Plex Mono SemiBold"/>
                <a:sym typeface="IBM Plex Mono SemiBold"/>
              </a:rPr>
              <a:t>ADOPT</a:t>
            </a:r>
            <a:endParaRPr sz="1100">
              <a:solidFill>
                <a:srgbClr val="2F6B4F"/>
              </a:solidFill>
              <a:latin typeface="IBM Plex Mono SemiBold"/>
              <a:ea typeface="IBM Plex Mono SemiBold"/>
              <a:cs typeface="IBM Plex Mono SemiBold"/>
              <a:sym typeface="IBM Plex Mono SemiBold"/>
            </a:endParaRPr>
          </a:p>
        </p:txBody>
      </p:sp>
      <p:sp>
        <p:nvSpPr>
          <p:cNvPr id="213" name="Google Shape;213;p19"/>
          <p:cNvSpPr/>
          <p:nvPr/>
        </p:nvSpPr>
        <p:spPr>
          <a:xfrm>
            <a:off x="4800600" y="1627632"/>
            <a:ext cx="1024200" cy="274200"/>
          </a:xfrm>
          <a:prstGeom prst="rect">
            <a:avLst/>
          </a:prstGeom>
          <a:noFill/>
          <a:ln cap="flat" cmpd="sng" w="15875">
            <a:solidFill>
              <a:srgbClr val="9C6B1E"/>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9C6B1E"/>
                </a:solidFill>
                <a:latin typeface="IBM Plex Mono SemiBold"/>
                <a:ea typeface="IBM Plex Mono SemiBold"/>
                <a:cs typeface="IBM Plex Mono SemiBold"/>
                <a:sym typeface="IBM Plex Mono SemiBold"/>
              </a:rPr>
              <a:t>MODIFY</a:t>
            </a:r>
            <a:endParaRPr sz="1100">
              <a:solidFill>
                <a:srgbClr val="9C6B1E"/>
              </a:solidFill>
              <a:latin typeface="IBM Plex Mono SemiBold"/>
              <a:ea typeface="IBM Plex Mono SemiBold"/>
              <a:cs typeface="IBM Plex Mono SemiBold"/>
              <a:sym typeface="IBM Plex Mono SemiBold"/>
            </a:endParaRPr>
          </a:p>
        </p:txBody>
      </p:sp>
      <p:sp>
        <p:nvSpPr>
          <p:cNvPr id="214" name="Google Shape;214;p19"/>
          <p:cNvSpPr/>
          <p:nvPr/>
        </p:nvSpPr>
        <p:spPr>
          <a:xfrm>
            <a:off x="457200" y="3273552"/>
            <a:ext cx="1024200" cy="274200"/>
          </a:xfrm>
          <a:prstGeom prst="rect">
            <a:avLst/>
          </a:prstGeom>
          <a:noFill/>
          <a:ln cap="flat" cmpd="sng" w="15875">
            <a:solidFill>
              <a:srgbClr val="B4532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B4532A"/>
                </a:solidFill>
                <a:latin typeface="IBM Plex Mono SemiBold"/>
                <a:ea typeface="IBM Plex Mono SemiBold"/>
                <a:cs typeface="IBM Plex Mono SemiBold"/>
                <a:sym typeface="IBM Plex Mono SemiBold"/>
              </a:rPr>
              <a:t>REJECT</a:t>
            </a:r>
            <a:endParaRPr sz="1100">
              <a:solidFill>
                <a:srgbClr val="B4532A"/>
              </a:solidFill>
              <a:latin typeface="IBM Plex Mono SemiBold"/>
              <a:ea typeface="IBM Plex Mono SemiBold"/>
              <a:cs typeface="IBM Plex Mono SemiBold"/>
              <a:sym typeface="IBM Plex Mono SemiBold"/>
            </a:endParaRPr>
          </a:p>
        </p:txBody>
      </p:sp>
      <p:sp>
        <p:nvSpPr>
          <p:cNvPr id="215" name="Google Shape;215;p19"/>
          <p:cNvSpPr/>
          <p:nvPr/>
        </p:nvSpPr>
        <p:spPr>
          <a:xfrm>
            <a:off x="4800600" y="3273552"/>
            <a:ext cx="1024200" cy="274200"/>
          </a:xfrm>
          <a:prstGeom prst="rect">
            <a:avLst/>
          </a:prstGeom>
          <a:noFill/>
          <a:ln cap="flat" cmpd="sng" w="15875">
            <a:solidFill>
              <a:srgbClr val="56687A"/>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lang="en" sz="1100">
                <a:solidFill>
                  <a:srgbClr val="56687A"/>
                </a:solidFill>
                <a:latin typeface="IBM Plex Mono SemiBold"/>
                <a:ea typeface="IBM Plex Mono SemiBold"/>
                <a:cs typeface="IBM Plex Mono SemiBold"/>
                <a:sym typeface="IBM Plex Mono SemiBold"/>
              </a:rPr>
              <a:t>DEFER</a:t>
            </a:r>
            <a:endParaRPr sz="1100">
              <a:solidFill>
                <a:srgbClr val="56687A"/>
              </a:solidFill>
              <a:latin typeface="IBM Plex Mono SemiBold"/>
              <a:ea typeface="IBM Plex Mono SemiBold"/>
              <a:cs typeface="IBM Plex Mono SemiBold"/>
              <a:sym typeface="IBM Plex Mono SemiBold"/>
            </a:endParaRPr>
          </a:p>
        </p:txBody>
      </p:sp>
      <p:sp>
        <p:nvSpPr>
          <p:cNvPr id="216" name="Google Shape;216;p19"/>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Our evidence supports code for the math and an LLM for new merchants</a:t>
            </a:r>
            <a:endParaRPr sz="2800">
              <a:solidFill>
                <a:srgbClr val="1F1D1A"/>
              </a:solidFill>
              <a:latin typeface="IBM Plex Serif SemiBold"/>
              <a:ea typeface="IBM Plex Serif SemiBold"/>
              <a:cs typeface="IBM Plex Serif SemiBold"/>
              <a:sym typeface="IBM Plex Serif SemiBold"/>
            </a:endParaRPr>
          </a:p>
        </p:txBody>
      </p:sp>
      <p:sp>
        <p:nvSpPr>
          <p:cNvPr id="217" name="Google Shape;217;p19"/>
          <p:cNvSpPr txBox="1"/>
          <p:nvPr/>
        </p:nvSpPr>
        <p:spPr>
          <a:xfrm>
            <a:off x="365760" y="3639312"/>
            <a:ext cx="4069200" cy="109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Keyword rules for categories</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82% vs. the LLM's 93%, gym filed as Fees</a:t>
            </a:r>
            <a:endParaRPr sz="1250">
              <a:solidFill>
                <a:srgbClr val="6B655C"/>
              </a:solidFill>
              <a:latin typeface="IBM Plex Sans"/>
              <a:ea typeface="IBM Plex Sans"/>
              <a:cs typeface="IBM Plex Sans"/>
              <a:sym typeface="IBM Plex Sans"/>
            </a:endParaRPr>
          </a:p>
          <a:p>
            <a:pPr indent="0" lvl="0" marL="0" rtl="0" algn="l">
              <a:lnSpc>
                <a:spcPct val="112000"/>
              </a:lnSpc>
              <a:spcBef>
                <a:spcPts val="900"/>
              </a:spcBef>
              <a:spcAft>
                <a:spcPts val="0"/>
              </a:spcAft>
              <a:buNone/>
            </a:pPr>
            <a:r>
              <a:rPr lang="en">
                <a:solidFill>
                  <a:srgbClr val="1F1D1A"/>
                </a:solidFill>
                <a:latin typeface="IBM Plex Sans SemiBold"/>
                <a:ea typeface="IBM Plex Sans SemiBold"/>
                <a:cs typeface="IBM Plex Sans SemiBold"/>
                <a:sym typeface="IBM Plex Sans SemiBold"/>
              </a:rPr>
              <a:t>Our classifier and similarity search</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26% and 22% on new merchants</a:t>
            </a:r>
            <a:endParaRPr sz="1250">
              <a:solidFill>
                <a:srgbClr val="6B655C"/>
              </a:solidFill>
              <a:latin typeface="IBM Plex Sans"/>
              <a:ea typeface="IBM Plex Sans"/>
              <a:cs typeface="IBM Plex Sans"/>
              <a:sym typeface="IBM Plex Sans"/>
            </a:endParaRPr>
          </a:p>
        </p:txBody>
      </p:sp>
      <p:sp>
        <p:nvSpPr>
          <p:cNvPr id="218" name="Google Shape;218;p19"/>
          <p:cNvSpPr txBox="1"/>
          <p:nvPr/>
        </p:nvSpPr>
        <p:spPr>
          <a:xfrm>
            <a:off x="4709160" y="3639312"/>
            <a:ext cx="4069200" cy="109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Small neural net</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No better than the classifier (24% vs. 26%)</a:t>
            </a:r>
            <a:endParaRPr sz="1250">
              <a:solidFill>
                <a:srgbClr val="6B655C"/>
              </a:solidFill>
              <a:latin typeface="IBM Plex Sans"/>
              <a:ea typeface="IBM Plex Sans"/>
              <a:cs typeface="IBM Plex Sans"/>
              <a:sym typeface="IBM Plex Sans"/>
            </a:endParaRPr>
          </a:p>
          <a:p>
            <a:pPr indent="0" lvl="0" marL="0" rtl="0" algn="l">
              <a:lnSpc>
                <a:spcPct val="112000"/>
              </a:lnSpc>
              <a:spcBef>
                <a:spcPts val="900"/>
              </a:spcBef>
              <a:spcAft>
                <a:spcPts val="0"/>
              </a:spcAft>
              <a:buNone/>
            </a:pPr>
            <a:r>
              <a:rPr lang="en">
                <a:solidFill>
                  <a:srgbClr val="1F1D1A"/>
                </a:solidFill>
                <a:latin typeface="IBM Plex Sans SemiBold"/>
                <a:ea typeface="IBM Plex Sans SemiBold"/>
                <a:cs typeface="IBM Plex Sans SemiBold"/>
                <a:sym typeface="IBM Plex Sans SemiBold"/>
              </a:rPr>
              <a:t>Receipt scanning (OCR)</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Could settle mixed stores (12% of charges)</a:t>
            </a:r>
            <a:endParaRPr sz="1250">
              <a:solidFill>
                <a:srgbClr val="6B655C"/>
              </a:solidFill>
              <a:latin typeface="IBM Plex Sans"/>
              <a:ea typeface="IBM Plex Sans"/>
              <a:cs typeface="IBM Plex Sans"/>
              <a:sym typeface="IBM Plex Sans"/>
            </a:endParaRPr>
          </a:p>
        </p:txBody>
      </p:sp>
      <p:sp>
        <p:nvSpPr>
          <p:cNvPr id="219" name="Google Shape;219;p19"/>
          <p:cNvSpPr txBox="1"/>
          <p:nvPr/>
        </p:nvSpPr>
        <p:spPr>
          <a:xfrm>
            <a:off x="365760" y="1993392"/>
            <a:ext cx="4069200" cy="109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Code for all totals</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Always exact, used to check the LLM's total</a:t>
            </a:r>
            <a:endParaRPr sz="1250">
              <a:solidFill>
                <a:srgbClr val="6B655C"/>
              </a:solidFill>
              <a:latin typeface="IBM Plex Sans"/>
              <a:ea typeface="IBM Plex Sans"/>
              <a:cs typeface="IBM Plex Sans"/>
              <a:sym typeface="IBM Plex Sans"/>
            </a:endParaRPr>
          </a:p>
          <a:p>
            <a:pPr indent="0" lvl="0" marL="0" rtl="0" algn="l">
              <a:lnSpc>
                <a:spcPct val="112000"/>
              </a:lnSpc>
              <a:spcBef>
                <a:spcPts val="900"/>
              </a:spcBef>
              <a:spcAft>
                <a:spcPts val="0"/>
              </a:spcAft>
              <a:buNone/>
            </a:pPr>
            <a:r>
              <a:rPr lang="en">
                <a:solidFill>
                  <a:srgbClr val="1F1D1A"/>
                </a:solidFill>
                <a:latin typeface="IBM Plex Sans SemiBold"/>
                <a:ea typeface="IBM Plex Sans SemiBold"/>
                <a:cs typeface="IBM Plex Sans SemiBold"/>
                <a:sym typeface="IBM Plex Sans SemiBold"/>
              </a:rPr>
              <a:t>LLM summary from computed numbers</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Used only our numbers (1 run so far)</a:t>
            </a:r>
            <a:endParaRPr sz="1250">
              <a:solidFill>
                <a:srgbClr val="6B655C"/>
              </a:solidFill>
              <a:latin typeface="IBM Plex Sans"/>
              <a:ea typeface="IBM Plex Sans"/>
              <a:cs typeface="IBM Plex Sans"/>
              <a:sym typeface="IBM Plex Sans"/>
            </a:endParaRPr>
          </a:p>
        </p:txBody>
      </p:sp>
      <p:sp>
        <p:nvSpPr>
          <p:cNvPr id="220" name="Google Shape;220;p19"/>
          <p:cNvSpPr txBox="1"/>
          <p:nvPr/>
        </p:nvSpPr>
        <p:spPr>
          <a:xfrm>
            <a:off x="4709160" y="1993392"/>
            <a:ext cx="4069200" cy="1097400"/>
          </a:xfrm>
          <a:prstGeom prst="rect">
            <a:avLst/>
          </a:prstGeom>
          <a:noFill/>
          <a:ln>
            <a:noFill/>
          </a:ln>
        </p:spPr>
        <p:txBody>
          <a:bodyPr anchorCtr="0" anchor="t" bIns="91425" lIns="91425" spcFirstLastPara="1" rIns="91425" wrap="square" tIns="91425">
            <a:noAutofit/>
          </a:bodyPr>
          <a:lstStyle/>
          <a:p>
            <a:pPr indent="0" lvl="0" marL="0" rtl="0" algn="l">
              <a:lnSpc>
                <a:spcPct val="112000"/>
              </a:lnSpc>
              <a:spcBef>
                <a:spcPts val="0"/>
              </a:spcBef>
              <a:spcAft>
                <a:spcPts val="0"/>
              </a:spcAft>
              <a:buNone/>
            </a:pPr>
            <a:r>
              <a:rPr lang="en">
                <a:solidFill>
                  <a:srgbClr val="1F1D1A"/>
                </a:solidFill>
                <a:latin typeface="IBM Plex Sans SemiBold"/>
                <a:ea typeface="IBM Plex Sans SemiBold"/>
                <a:cs typeface="IBM Plex Sans SemiBold"/>
                <a:sym typeface="IBM Plex Sans SemiBold"/>
              </a:rPr>
              <a:t>LLM categorizer + ask when unsure</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93–94% right, 17 of 19 misses flagged (4 runs)</a:t>
            </a:r>
            <a:endParaRPr sz="1250">
              <a:solidFill>
                <a:srgbClr val="6B655C"/>
              </a:solidFill>
              <a:latin typeface="IBM Plex Sans"/>
              <a:ea typeface="IBM Plex Sans"/>
              <a:cs typeface="IBM Plex Sans"/>
              <a:sym typeface="IBM Plex Sans"/>
            </a:endParaRPr>
          </a:p>
          <a:p>
            <a:pPr indent="0" lvl="0" marL="0" rtl="0" algn="l">
              <a:lnSpc>
                <a:spcPct val="112000"/>
              </a:lnSpc>
              <a:spcBef>
                <a:spcPts val="900"/>
              </a:spcBef>
              <a:spcAft>
                <a:spcPts val="0"/>
              </a:spcAft>
              <a:buNone/>
            </a:pPr>
            <a:r>
              <a:rPr lang="en">
                <a:solidFill>
                  <a:srgbClr val="1F1D1A"/>
                </a:solidFill>
                <a:latin typeface="IBM Plex Sans SemiBold"/>
                <a:ea typeface="IBM Plex Sans SemiBold"/>
                <a:cs typeface="IBM Plex Sans SemiBold"/>
                <a:sym typeface="IBM Plex Sans SemiBold"/>
              </a:rPr>
              <a:t>Recurring-bill rule (utilities vary)</a:t>
            </a:r>
            <a:endParaRPr>
              <a:solidFill>
                <a:srgbClr val="1F1D1A"/>
              </a:solidFill>
              <a:latin typeface="IBM Plex Sans SemiBold"/>
              <a:ea typeface="IBM Plex Sans SemiBold"/>
              <a:cs typeface="IBM Plex Sans SemiBold"/>
              <a:sym typeface="IBM Plex Sans SemiBold"/>
            </a:endParaRPr>
          </a:p>
          <a:p>
            <a:pPr indent="0" lvl="0" marL="0" rtl="0" algn="l">
              <a:lnSpc>
                <a:spcPct val="112000"/>
              </a:lnSpc>
              <a:spcBef>
                <a:spcPts val="0"/>
              </a:spcBef>
              <a:spcAft>
                <a:spcPts val="0"/>
              </a:spcAft>
              <a:buNone/>
            </a:pPr>
            <a:r>
              <a:rPr lang="en" sz="1250">
                <a:solidFill>
                  <a:srgbClr val="6B655C"/>
                </a:solidFill>
                <a:latin typeface="IBM Plex Sans"/>
                <a:ea typeface="IBM Plex Sans"/>
                <a:cs typeface="IBM Plex Sans"/>
                <a:sym typeface="IBM Plex Sans"/>
              </a:rPr>
              <a:t>Found 11 of 13, missed electric ($38 → $61)</a:t>
            </a:r>
            <a:endParaRPr sz="1250">
              <a:solidFill>
                <a:srgbClr val="6B655C"/>
              </a:solidFill>
              <a:latin typeface="IBM Plex Sans"/>
              <a:ea typeface="IBM Plex Sans"/>
              <a:cs typeface="IBM Plex Sans"/>
              <a:sym typeface="IBM Plex Sans"/>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224" name="Shape 224"/>
        <p:cNvGrpSpPr/>
        <p:nvPr/>
      </p:nvGrpSpPr>
      <p:grpSpPr>
        <a:xfrm>
          <a:off x="0" y="0"/>
          <a:ext cx="0" cy="0"/>
          <a:chOff x="0" y="0"/>
          <a:chExt cx="0" cy="0"/>
        </a:xfrm>
      </p:grpSpPr>
      <p:sp>
        <p:nvSpPr>
          <p:cNvPr id="225" name="Google Shape;225;p20"/>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07 · NEXT QUESTION</a:t>
            </a:r>
            <a:endParaRPr sz="1000">
              <a:solidFill>
                <a:srgbClr val="6B655C"/>
              </a:solidFill>
              <a:latin typeface="IBM Plex Mono"/>
              <a:ea typeface="IBM Plex Mono"/>
              <a:cs typeface="IBM Plex Mono"/>
              <a:sym typeface="IBM Plex Mono"/>
            </a:endParaRPr>
          </a:p>
        </p:txBody>
      </p:sp>
      <p:sp>
        <p:nvSpPr>
          <p:cNvPr id="226" name="Google Shape;226;p20"/>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08</a:t>
            </a:r>
            <a:endParaRPr sz="900">
              <a:solidFill>
                <a:srgbClr val="9A9285"/>
              </a:solidFill>
              <a:latin typeface="IBM Plex Mono"/>
              <a:ea typeface="IBM Plex Mono"/>
              <a:cs typeface="IBM Plex Mono"/>
              <a:sym typeface="IBM Plex Mono"/>
            </a:endParaRPr>
          </a:p>
        </p:txBody>
      </p:sp>
      <p:sp>
        <p:nvSpPr>
          <p:cNvPr id="227" name="Google Shape;227;p20"/>
          <p:cNvSpPr txBox="1"/>
          <p:nvPr/>
        </p:nvSpPr>
        <p:spPr>
          <a:xfrm>
            <a:off x="365760" y="1700784"/>
            <a:ext cx="43890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WHY THIS QUESTION</a:t>
            </a:r>
            <a:endParaRPr sz="1000">
              <a:solidFill>
                <a:srgbClr val="B4532A"/>
              </a:solidFill>
              <a:latin typeface="IBM Plex Mono Medium"/>
              <a:ea typeface="IBM Plex Mono Medium"/>
              <a:cs typeface="IBM Plex Mono Medium"/>
              <a:sym typeface="IBM Plex Mono Medium"/>
            </a:endParaRPr>
          </a:p>
        </p:txBody>
      </p:sp>
      <p:sp>
        <p:nvSpPr>
          <p:cNvPr id="228" name="Google Shape;228;p20"/>
          <p:cNvSpPr txBox="1"/>
          <p:nvPr/>
        </p:nvSpPr>
        <p:spPr>
          <a:xfrm>
            <a:off x="365760" y="2816352"/>
            <a:ext cx="43890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WHAT WE'LL TRY</a:t>
            </a:r>
            <a:endParaRPr sz="1000">
              <a:solidFill>
                <a:srgbClr val="B4532A"/>
              </a:solidFill>
              <a:latin typeface="IBM Plex Mono Medium"/>
              <a:ea typeface="IBM Plex Mono Medium"/>
              <a:cs typeface="IBM Plex Mono Medium"/>
              <a:sym typeface="IBM Plex Mono Medium"/>
            </a:endParaRPr>
          </a:p>
        </p:txBody>
      </p:sp>
      <p:sp>
        <p:nvSpPr>
          <p:cNvPr id="229" name="Google Shape;229;p20"/>
          <p:cNvSpPr txBox="1"/>
          <p:nvPr/>
        </p:nvSpPr>
        <p:spPr>
          <a:xfrm>
            <a:off x="365760" y="3931920"/>
            <a:ext cx="43890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HOW WE'LL JUDGE IT</a:t>
            </a:r>
            <a:endParaRPr sz="1000">
              <a:solidFill>
                <a:srgbClr val="B4532A"/>
              </a:solidFill>
              <a:latin typeface="IBM Plex Mono Medium"/>
              <a:ea typeface="IBM Plex Mono Medium"/>
              <a:cs typeface="IBM Plex Mono Medium"/>
              <a:sym typeface="IBM Plex Mono Medium"/>
            </a:endParaRPr>
          </a:p>
        </p:txBody>
      </p:sp>
      <p:sp>
        <p:nvSpPr>
          <p:cNvPr id="230" name="Google Shape;230;p20"/>
          <p:cNvSpPr/>
          <p:nvPr/>
        </p:nvSpPr>
        <p:spPr>
          <a:xfrm>
            <a:off x="5074920" y="1700784"/>
            <a:ext cx="3612000" cy="2853000"/>
          </a:xfrm>
          <a:prstGeom prst="rect">
            <a:avLst/>
          </a:prstGeom>
          <a:solidFill>
            <a:srgbClr val="E9E3D6"/>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31" name="Google Shape;231;p20"/>
          <p:cNvSpPr txBox="1"/>
          <p:nvPr/>
        </p:nvSpPr>
        <p:spPr>
          <a:xfrm>
            <a:off x="5166360" y="1865376"/>
            <a:ext cx="3474600" cy="1691700"/>
          </a:xfrm>
          <a:prstGeom prst="rect">
            <a:avLst/>
          </a:prstGeom>
          <a:noFill/>
          <a:ln>
            <a:noFill/>
          </a:ln>
        </p:spPr>
        <p:txBody>
          <a:bodyPr anchorCtr="0" anchor="t" bIns="91425" lIns="91425" spcFirstLastPara="1" rIns="91425" wrap="square" tIns="91425">
            <a:noAutofit/>
          </a:bodyPr>
          <a:lstStyle/>
          <a:p>
            <a:pPr indent="0" lvl="0" marL="0" rtl="0" algn="l">
              <a:lnSpc>
                <a:spcPct val="118000"/>
              </a:lnSpc>
              <a:spcBef>
                <a:spcPts val="0"/>
              </a:spcBef>
              <a:spcAft>
                <a:spcPts val="0"/>
              </a:spcAft>
              <a:buNone/>
            </a:pPr>
            <a:r>
              <a:rPr lang="en" sz="900">
                <a:solidFill>
                  <a:srgbClr val="6B655C"/>
                </a:solidFill>
                <a:latin typeface="IBM Plex Mono"/>
                <a:ea typeface="IBM Plex Mono"/>
                <a:cs typeface="IBM Plex Mono"/>
                <a:sym typeface="IBM Plex Mono"/>
              </a:rPr>
              <a:t>STEWARTS SHOP 345 · WHAT THE LLM WOULD SEE</a:t>
            </a:r>
            <a:endParaRPr sz="900">
              <a:solidFill>
                <a:srgbClr val="6B655C"/>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Jul 03   $25.64   gas         confirmed</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Jul 25    $5.63   ice cream   confirmed</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Aug 08    $5.67   ice cream   confirmed</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Aug 26   $33.59   gas         confirmed</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t/>
            </a:r>
            <a:endParaRPr sz="1000">
              <a:solidFill>
                <a:srgbClr val="1F1D1A"/>
              </a:solidFill>
              <a:latin typeface="IBM Plex Mono"/>
              <a:ea typeface="IBM Plex Mono"/>
              <a:cs typeface="IBM Plex Mono"/>
              <a:sym typeface="IBM Plex Mono"/>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Sep 06   $28.81   </a:t>
            </a:r>
            <a:r>
              <a:rPr lang="en" sz="1000">
                <a:solidFill>
                  <a:srgbClr val="B4532A"/>
                </a:solidFill>
                <a:latin typeface="IBM Plex Mono SemiBold"/>
                <a:ea typeface="IBM Plex Mono SemiBold"/>
                <a:cs typeface="IBM Plex Mono SemiBold"/>
                <a:sym typeface="IBM Plex Mono SemiBold"/>
              </a:rPr>
              <a:t>?</a:t>
            </a:r>
            <a:endParaRPr sz="1000">
              <a:solidFill>
                <a:srgbClr val="B4532A"/>
              </a:solidFill>
              <a:latin typeface="IBM Plex Mono SemiBold"/>
              <a:ea typeface="IBM Plex Mono SemiBold"/>
              <a:cs typeface="IBM Plex Mono SemiBold"/>
              <a:sym typeface="IBM Plex Mono SemiBold"/>
            </a:endParaRPr>
          </a:p>
          <a:p>
            <a:pPr indent="0" lvl="0" marL="0" rtl="0" algn="l">
              <a:lnSpc>
                <a:spcPct val="118000"/>
              </a:lnSpc>
              <a:spcBef>
                <a:spcPts val="0"/>
              </a:spcBef>
              <a:spcAft>
                <a:spcPts val="0"/>
              </a:spcAft>
              <a:buNone/>
            </a:pPr>
            <a:r>
              <a:rPr lang="en" sz="1000">
                <a:solidFill>
                  <a:srgbClr val="1F1D1A"/>
                </a:solidFill>
                <a:latin typeface="IBM Plex Mono"/>
                <a:ea typeface="IBM Plex Mono"/>
                <a:cs typeface="IBM Plex Mono"/>
                <a:sym typeface="IBM Plex Mono"/>
              </a:rPr>
              <a:t>Sep 24    $5.53   </a:t>
            </a:r>
            <a:r>
              <a:rPr lang="en" sz="1000">
                <a:solidFill>
                  <a:srgbClr val="B4532A"/>
                </a:solidFill>
                <a:latin typeface="IBM Plex Mono SemiBold"/>
                <a:ea typeface="IBM Plex Mono SemiBold"/>
                <a:cs typeface="IBM Plex Mono SemiBold"/>
                <a:sym typeface="IBM Plex Mono SemiBold"/>
              </a:rPr>
              <a:t>?</a:t>
            </a:r>
            <a:endParaRPr sz="1000">
              <a:solidFill>
                <a:srgbClr val="B4532A"/>
              </a:solidFill>
              <a:latin typeface="IBM Plex Mono SemiBold"/>
              <a:ea typeface="IBM Plex Mono SemiBold"/>
              <a:cs typeface="IBM Plex Mono SemiBold"/>
              <a:sym typeface="IBM Plex Mono SemiBold"/>
            </a:endParaRPr>
          </a:p>
        </p:txBody>
      </p:sp>
      <p:sp>
        <p:nvSpPr>
          <p:cNvPr id="232" name="Google Shape;232;p20"/>
          <p:cNvSpPr txBox="1"/>
          <p:nvPr/>
        </p:nvSpPr>
        <p:spPr>
          <a:xfrm>
            <a:off x="5166360" y="3657600"/>
            <a:ext cx="3429000" cy="749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i="1" lang="en" sz="1200">
                <a:solidFill>
                  <a:srgbClr val="6B655C"/>
                </a:solidFill>
                <a:latin typeface="IBM Plex Sans"/>
                <a:ea typeface="IBM Plex Sans"/>
                <a:cs typeface="IBM Plex Sans"/>
                <a:sym typeface="IBM Plex Sans"/>
              </a:rPr>
              <a:t>Hypothesis: with this history, big means gas and small means ice cream. We haven't tested it yet.</a:t>
            </a:r>
            <a:endParaRPr i="1" sz="1200">
              <a:solidFill>
                <a:srgbClr val="6B655C"/>
              </a:solidFill>
              <a:latin typeface="IBM Plex Sans"/>
              <a:ea typeface="IBM Plex Sans"/>
              <a:cs typeface="IBM Plex Sans"/>
              <a:sym typeface="IBM Plex Sans"/>
            </a:endParaRPr>
          </a:p>
        </p:txBody>
      </p:sp>
      <p:sp>
        <p:nvSpPr>
          <p:cNvPr id="233" name="Google Shape;233;p20"/>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Can a student's own past answers settle Target, Costco and Stewart's?</a:t>
            </a:r>
            <a:endParaRPr sz="2800">
              <a:solidFill>
                <a:srgbClr val="1F1D1A"/>
              </a:solidFill>
              <a:latin typeface="IBM Plex Serif SemiBold"/>
              <a:ea typeface="IBM Plex Serif SemiBold"/>
              <a:cs typeface="IBM Plex Serif SemiBold"/>
              <a:sym typeface="IBM Plex Serif SemiBold"/>
            </a:endParaRPr>
          </a:p>
        </p:txBody>
      </p:sp>
      <p:sp>
        <p:nvSpPr>
          <p:cNvPr id="234" name="Google Shape;234;p20"/>
          <p:cNvSpPr txBox="1"/>
          <p:nvPr/>
        </p:nvSpPr>
        <p:spPr>
          <a:xfrm>
            <a:off x="365760" y="3035808"/>
            <a:ext cx="4389000" cy="822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a:ea typeface="IBM Plex Sans"/>
                <a:cs typeface="IBM Plex Sans"/>
                <a:sym typeface="IBM Plex Sans"/>
              </a:rPr>
              <a:t>Before asking, give the LLM the student's confirmed past charges at that store, with amounts (a simple form of RAG).</a:t>
            </a:r>
            <a:endParaRPr>
              <a:solidFill>
                <a:srgbClr val="1F1D1A"/>
              </a:solidFill>
              <a:latin typeface="IBM Plex Sans"/>
              <a:ea typeface="IBM Plex Sans"/>
              <a:cs typeface="IBM Plex Sans"/>
              <a:sym typeface="IBM Plex Sans"/>
            </a:endParaRPr>
          </a:p>
        </p:txBody>
      </p:sp>
      <p:sp>
        <p:nvSpPr>
          <p:cNvPr id="235" name="Google Shape;235;p20"/>
          <p:cNvSpPr txBox="1"/>
          <p:nvPr/>
        </p:nvSpPr>
        <p:spPr>
          <a:xfrm>
            <a:off x="365760" y="4151376"/>
            <a:ext cx="4389000" cy="5304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a:ea typeface="IBM Plex Sans"/>
                <a:cs typeface="IBM Plex Sans"/>
                <a:sym typeface="IBM Plex Sans"/>
              </a:rPr>
              <a:t>Questions per month and charges still wrong, compared to always asking.</a:t>
            </a:r>
            <a:endParaRPr>
              <a:solidFill>
                <a:srgbClr val="1F1D1A"/>
              </a:solidFill>
              <a:latin typeface="IBM Plex Sans"/>
              <a:ea typeface="IBM Plex Sans"/>
              <a:cs typeface="IBM Plex Sans"/>
              <a:sym typeface="IBM Plex Sans"/>
            </a:endParaRPr>
          </a:p>
        </p:txBody>
      </p:sp>
      <p:sp>
        <p:nvSpPr>
          <p:cNvPr id="236" name="Google Shape;236;p20"/>
          <p:cNvSpPr txBox="1"/>
          <p:nvPr/>
        </p:nvSpPr>
        <p:spPr>
          <a:xfrm>
            <a:off x="365760" y="1920240"/>
            <a:ext cx="4389000" cy="822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a:solidFill>
                  <a:srgbClr val="1F1D1A"/>
                </a:solidFill>
                <a:latin typeface="IBM Plex Sans"/>
                <a:ea typeface="IBM Plex Sans"/>
                <a:cs typeface="IBM Plex Sans"/>
                <a:sym typeface="IBM Plex Sans"/>
              </a:rPr>
              <a:t>12% of charges are at stores that sell several kinds of things. In our first run, they were 7 of the LLM's 9 unsure flags.</a:t>
            </a:r>
            <a:endParaRPr>
              <a:solidFill>
                <a:srgbClr val="1F1D1A"/>
              </a:solidFill>
              <a:latin typeface="IBM Plex Sans"/>
              <a:ea typeface="IBM Plex Sans"/>
              <a:cs typeface="IBM Plex Sans"/>
              <a:sym typeface="IBM Plex Sans"/>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240" name="Shape 240"/>
        <p:cNvGrpSpPr/>
        <p:nvPr/>
      </p:nvGrpSpPr>
      <p:grpSpPr>
        <a:xfrm>
          <a:off x="0" y="0"/>
          <a:ext cx="0" cy="0"/>
          <a:chOff x="0" y="0"/>
          <a:chExt cx="0" cy="0"/>
        </a:xfrm>
      </p:grpSpPr>
      <p:sp>
        <p:nvSpPr>
          <p:cNvPr id="241" name="Google Shape;241;p21"/>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TESTING METHODOLOGY</a:t>
            </a:r>
            <a:endParaRPr sz="1000">
              <a:solidFill>
                <a:srgbClr val="6B655C"/>
              </a:solidFill>
              <a:latin typeface="IBM Plex Mono"/>
              <a:ea typeface="IBM Plex Mono"/>
              <a:cs typeface="IBM Plex Mono"/>
              <a:sym typeface="IBM Plex Mono"/>
            </a:endParaRPr>
          </a:p>
        </p:txBody>
      </p:sp>
      <p:sp>
        <p:nvSpPr>
          <p:cNvPr id="242" name="Google Shape;242;p21"/>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How we tested</a:t>
            </a:r>
            <a:endParaRPr sz="2800">
              <a:solidFill>
                <a:srgbClr val="1F1D1A"/>
              </a:solidFill>
              <a:latin typeface="IBM Plex Serif SemiBold"/>
              <a:ea typeface="IBM Plex Serif SemiBold"/>
              <a:cs typeface="IBM Plex Serif SemiBold"/>
              <a:sym typeface="IBM Plex Serif SemiBold"/>
            </a:endParaRPr>
          </a:p>
        </p:txBody>
      </p:sp>
      <p:sp>
        <p:nvSpPr>
          <p:cNvPr id="243" name="Google Shape;243;p21"/>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09</a:t>
            </a:r>
            <a:endParaRPr sz="900">
              <a:solidFill>
                <a:srgbClr val="9A9285"/>
              </a:solidFill>
              <a:latin typeface="IBM Plex Mono"/>
              <a:ea typeface="IBM Plex Mono"/>
              <a:cs typeface="IBM Plex Mono"/>
              <a:sym typeface="IBM Plex Mono"/>
            </a:endParaRPr>
          </a:p>
        </p:txBody>
      </p:sp>
      <p:sp>
        <p:nvSpPr>
          <p:cNvPr id="244" name="Google Shape;244;p21"/>
          <p:cNvSpPr txBox="1"/>
          <p:nvPr/>
        </p:nvSpPr>
        <p:spPr>
          <a:xfrm>
            <a:off x="365760" y="1188720"/>
            <a:ext cx="4114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TEST SET</a:t>
            </a:r>
            <a:endParaRPr sz="1000">
              <a:solidFill>
                <a:srgbClr val="B4532A"/>
              </a:solidFill>
              <a:latin typeface="IBM Plex Mono Medium"/>
              <a:ea typeface="IBM Plex Mono Medium"/>
              <a:cs typeface="IBM Plex Mono Medium"/>
              <a:sym typeface="IBM Plex Mono Medium"/>
            </a:endParaRPr>
          </a:p>
        </p:txBody>
      </p:sp>
      <p:sp>
        <p:nvSpPr>
          <p:cNvPr id="245" name="Google Shape;245;p21"/>
          <p:cNvSpPr txBox="1"/>
          <p:nvPr/>
        </p:nvSpPr>
        <p:spPr>
          <a:xfrm>
            <a:off x="365760" y="2743200"/>
            <a:ext cx="4114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APPROACHES</a:t>
            </a:r>
            <a:endParaRPr sz="1000">
              <a:solidFill>
                <a:srgbClr val="B4532A"/>
              </a:solidFill>
              <a:latin typeface="IBM Plex Mono Medium"/>
              <a:ea typeface="IBM Plex Mono Medium"/>
              <a:cs typeface="IBM Plex Mono Medium"/>
              <a:sym typeface="IBM Plex Mono Medium"/>
            </a:endParaRPr>
          </a:p>
        </p:txBody>
      </p:sp>
      <p:sp>
        <p:nvSpPr>
          <p:cNvPr id="246" name="Google Shape;246;p21"/>
          <p:cNvSpPr txBox="1"/>
          <p:nvPr/>
        </p:nvSpPr>
        <p:spPr>
          <a:xfrm>
            <a:off x="365760" y="2980944"/>
            <a:ext cx="4114800" cy="1234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1F1D1A"/>
                </a:solidFill>
                <a:latin typeface="IBM Plex Sans"/>
                <a:ea typeface="IBM Plex Sans"/>
                <a:cs typeface="IBM Plex Sans"/>
                <a:sym typeface="IBM Plex Sans"/>
              </a:rPr>
              <a:t>Keyword rules: 112 brand and word patterns. Classifier: TF-IDF character n-grams + logistic regression. Neural net: MLP, 64 hidden units, same features. Similarity: nearest labeled charge by cosine.</a:t>
            </a:r>
            <a:endParaRPr sz="1300">
              <a:solidFill>
                <a:srgbClr val="1F1D1A"/>
              </a:solidFill>
              <a:latin typeface="IBM Plex Sans"/>
              <a:ea typeface="IBM Plex Sans"/>
              <a:cs typeface="IBM Plex Sans"/>
              <a:sym typeface="IBM Plex Sans"/>
            </a:endParaRPr>
          </a:p>
        </p:txBody>
      </p:sp>
      <p:sp>
        <p:nvSpPr>
          <p:cNvPr id="247" name="Google Shape;247;p21"/>
          <p:cNvSpPr txBox="1"/>
          <p:nvPr/>
        </p:nvSpPr>
        <p:spPr>
          <a:xfrm>
            <a:off x="4572000" y="1188720"/>
            <a:ext cx="4114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EVALUATION</a:t>
            </a:r>
            <a:endParaRPr sz="1000">
              <a:solidFill>
                <a:srgbClr val="B4532A"/>
              </a:solidFill>
              <a:latin typeface="IBM Plex Mono Medium"/>
              <a:ea typeface="IBM Plex Mono Medium"/>
              <a:cs typeface="IBM Plex Mono Medium"/>
              <a:sym typeface="IBM Plex Mono Medium"/>
            </a:endParaRPr>
          </a:p>
        </p:txBody>
      </p:sp>
      <p:sp>
        <p:nvSpPr>
          <p:cNvPr id="248" name="Google Shape;248;p21"/>
          <p:cNvSpPr txBox="1"/>
          <p:nvPr/>
        </p:nvSpPr>
        <p:spPr>
          <a:xfrm>
            <a:off x="4572000" y="1426464"/>
            <a:ext cx="4114800" cy="100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1F1D1A"/>
                </a:solidFill>
                <a:latin typeface="IBM Plex Sans"/>
                <a:ea typeface="IBM Plex Sans"/>
                <a:cs typeface="IBM Plex Sans"/>
                <a:sym typeface="IBM Plex Sans"/>
              </a:rPr>
              <a:t>5-fold cross-validation over all 211 charges. “Seen”: random folds. “New”: each merchant's charges held out together. Slides report the 68 September charges, the same ones the LLM saw.</a:t>
            </a:r>
            <a:endParaRPr sz="1300">
              <a:solidFill>
                <a:srgbClr val="1F1D1A"/>
              </a:solidFill>
              <a:latin typeface="IBM Plex Sans"/>
              <a:ea typeface="IBM Plex Sans"/>
              <a:cs typeface="IBM Plex Sans"/>
              <a:sym typeface="IBM Plex Sans"/>
            </a:endParaRPr>
          </a:p>
        </p:txBody>
      </p:sp>
      <p:sp>
        <p:nvSpPr>
          <p:cNvPr id="249" name="Google Shape;249;p21"/>
          <p:cNvSpPr txBox="1"/>
          <p:nvPr/>
        </p:nvSpPr>
        <p:spPr>
          <a:xfrm>
            <a:off x="4572000" y="2523744"/>
            <a:ext cx="4114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LLM TEST</a:t>
            </a:r>
            <a:endParaRPr sz="1000">
              <a:solidFill>
                <a:srgbClr val="B4532A"/>
              </a:solidFill>
              <a:latin typeface="IBM Plex Mono Medium"/>
              <a:ea typeface="IBM Plex Mono Medium"/>
              <a:cs typeface="IBM Plex Mono Medium"/>
              <a:sym typeface="IBM Plex Mono Medium"/>
            </a:endParaRPr>
          </a:p>
        </p:txBody>
      </p:sp>
      <p:sp>
        <p:nvSpPr>
          <p:cNvPr id="250" name="Google Shape;250;p21"/>
          <p:cNvSpPr txBox="1"/>
          <p:nvPr/>
        </p:nvSpPr>
        <p:spPr>
          <a:xfrm>
            <a:off x="4572000" y="3858768"/>
            <a:ext cx="4114800" cy="237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B4532A"/>
                </a:solidFill>
                <a:latin typeface="IBM Plex Mono Medium"/>
                <a:ea typeface="IBM Plex Mono Medium"/>
                <a:cs typeface="IBM Plex Mono Medium"/>
                <a:sym typeface="IBM Plex Mono Medium"/>
              </a:rPr>
              <a:t>LIMITS</a:t>
            </a:r>
            <a:endParaRPr sz="1000">
              <a:solidFill>
                <a:srgbClr val="B4532A"/>
              </a:solidFill>
              <a:latin typeface="IBM Plex Mono Medium"/>
              <a:ea typeface="IBM Plex Mono Medium"/>
              <a:cs typeface="IBM Plex Mono Medium"/>
              <a:sym typeface="IBM Plex Mono Medium"/>
            </a:endParaRPr>
          </a:p>
        </p:txBody>
      </p:sp>
      <p:sp>
        <p:nvSpPr>
          <p:cNvPr id="251" name="Google Shape;251;p21"/>
          <p:cNvSpPr txBox="1"/>
          <p:nvPr/>
        </p:nvSpPr>
        <p:spPr>
          <a:xfrm>
            <a:off x="4572000" y="4096512"/>
            <a:ext cx="4114800" cy="5487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1F1D1A"/>
                </a:solidFill>
                <a:latin typeface="IBM Plex Sans"/>
                <a:ea typeface="IBM Plex Sans"/>
                <a:cs typeface="IBM Plex Sans"/>
                <a:sym typeface="IBM Plex Sans"/>
              </a:rPr>
              <a:t>One synthetic student and our own labels. On 68 charges, one charge moves accuracy 1.5 points.</a:t>
            </a:r>
            <a:endParaRPr sz="1300">
              <a:solidFill>
                <a:srgbClr val="1F1D1A"/>
              </a:solidFill>
              <a:latin typeface="IBM Plex Sans"/>
              <a:ea typeface="IBM Plex Sans"/>
              <a:cs typeface="IBM Plex Sans"/>
              <a:sym typeface="IBM Plex Sans"/>
            </a:endParaRPr>
          </a:p>
        </p:txBody>
      </p:sp>
      <p:sp>
        <p:nvSpPr>
          <p:cNvPr id="252" name="Google Shape;252;p21"/>
          <p:cNvSpPr txBox="1"/>
          <p:nvPr/>
        </p:nvSpPr>
        <p:spPr>
          <a:xfrm>
            <a:off x="4572000" y="2761488"/>
            <a:ext cx="4114800" cy="10059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1F1D1A"/>
                </a:solidFill>
                <a:latin typeface="IBM Plex Sans"/>
                <a:ea typeface="IBM Plex Sans"/>
                <a:cs typeface="IBM Plex Sans"/>
                <a:sym typeface="IBM Plex Sans"/>
              </a:rPr>
              <a:t>The 68-line September statement plus our 11 category names. Claude Haiku 5.5, 3 runs. Claude Opus 5.5, 1 run. No tools. Also a no-statement run and a numbers-only run.</a:t>
            </a:r>
            <a:endParaRPr sz="1300">
              <a:solidFill>
                <a:srgbClr val="1F1D1A"/>
              </a:solidFill>
              <a:latin typeface="IBM Plex Sans"/>
              <a:ea typeface="IBM Plex Sans"/>
              <a:cs typeface="IBM Plex Sans"/>
              <a:sym typeface="IBM Plex Sans"/>
            </a:endParaRPr>
          </a:p>
        </p:txBody>
      </p:sp>
      <p:sp>
        <p:nvSpPr>
          <p:cNvPr id="253" name="Google Shape;253;p21"/>
          <p:cNvSpPr txBox="1"/>
          <p:nvPr/>
        </p:nvSpPr>
        <p:spPr>
          <a:xfrm>
            <a:off x="365760" y="1426464"/>
            <a:ext cx="4114800" cy="1234500"/>
          </a:xfrm>
          <a:prstGeom prst="rect">
            <a:avLst/>
          </a:prstGeom>
          <a:noFill/>
          <a:ln>
            <a:noFill/>
          </a:ln>
        </p:spPr>
        <p:txBody>
          <a:bodyPr anchorCtr="0" anchor="t" bIns="91425" lIns="91425" spcFirstLastPara="1" rIns="91425" wrap="square" tIns="91425">
            <a:noAutofit/>
          </a:bodyPr>
          <a:lstStyle/>
          <a:p>
            <a:pPr indent="0" lvl="0" marL="0" rtl="0" algn="l">
              <a:lnSpc>
                <a:spcPct val="110000"/>
              </a:lnSpc>
              <a:spcBef>
                <a:spcPts val="0"/>
              </a:spcBef>
              <a:spcAft>
                <a:spcPts val="0"/>
              </a:spcAft>
              <a:buNone/>
            </a:pPr>
            <a:r>
              <a:rPr lang="en" sz="1300">
                <a:solidFill>
                  <a:srgbClr val="1F1D1A"/>
                </a:solidFill>
                <a:latin typeface="IBM Plex Sans"/>
                <a:ea typeface="IBM Plex Sans"/>
                <a:cs typeface="IBM Plex Sans"/>
                <a:sym typeface="IBM Plex Sans"/>
              </a:rPr>
              <a:t>211 transactions for one student, Jul–Sep 2026: 66 merchants, 11 categories. Synthetic, written in real bank and card statement formats, and labeled by us. Mixed-store charges are labeled by what was bought.</a:t>
            </a:r>
            <a:endParaRPr sz="1300">
              <a:solidFill>
                <a:srgbClr val="1F1D1A"/>
              </a:solidFill>
              <a:latin typeface="IBM Plex Sans"/>
              <a:ea typeface="IBM Plex Sans"/>
              <a:cs typeface="IBM Plex Sans"/>
              <a:sym typeface="IBM Plex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4F1EA"/>
        </a:solidFill>
      </p:bgPr>
    </p:bg>
    <p:spTree>
      <p:nvGrpSpPr>
        <p:cNvPr id="257" name="Shape 257"/>
        <p:cNvGrpSpPr/>
        <p:nvPr/>
      </p:nvGrpSpPr>
      <p:grpSpPr>
        <a:xfrm>
          <a:off x="0" y="0"/>
          <a:ext cx="0" cy="0"/>
          <a:chOff x="0" y="0"/>
          <a:chExt cx="0" cy="0"/>
        </a:xfrm>
      </p:grpSpPr>
      <p:sp>
        <p:nvSpPr>
          <p:cNvPr id="258" name="Google Shape;258;p22"/>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PRESENTATION RECAP</a:t>
            </a:r>
            <a:endParaRPr sz="1000">
              <a:solidFill>
                <a:srgbClr val="6B655C"/>
              </a:solidFill>
              <a:latin typeface="IBM Plex Mono"/>
              <a:ea typeface="IBM Plex Mono"/>
              <a:cs typeface="IBM Plex Mono"/>
              <a:sym typeface="IBM Plex Mono"/>
            </a:endParaRPr>
          </a:p>
        </p:txBody>
      </p:sp>
      <p:sp>
        <p:nvSpPr>
          <p:cNvPr id="259" name="Google Shape;259;p22"/>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Evidence summary</a:t>
            </a:r>
            <a:endParaRPr sz="2800">
              <a:solidFill>
                <a:srgbClr val="1F1D1A"/>
              </a:solidFill>
              <a:latin typeface="IBM Plex Serif SemiBold"/>
              <a:ea typeface="IBM Plex Serif SemiBold"/>
              <a:cs typeface="IBM Plex Serif SemiBold"/>
              <a:sym typeface="IBM Plex Serif SemiBold"/>
            </a:endParaRPr>
          </a:p>
        </p:txBody>
      </p:sp>
      <p:sp>
        <p:nvSpPr>
          <p:cNvPr id="260" name="Google Shape;260;p22"/>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10</a:t>
            </a:r>
            <a:endParaRPr sz="900">
              <a:solidFill>
                <a:srgbClr val="9A9285"/>
              </a:solidFill>
              <a:latin typeface="IBM Plex Mono"/>
              <a:ea typeface="IBM Plex Mono"/>
              <a:cs typeface="IBM Plex Mono"/>
              <a:sym typeface="IBM Plex Mono"/>
            </a:endParaRPr>
          </a:p>
        </p:txBody>
      </p:sp>
      <p:graphicFrame>
        <p:nvGraphicFramePr>
          <p:cNvPr id="261" name="Google Shape;261;p22"/>
          <p:cNvGraphicFramePr/>
          <p:nvPr/>
        </p:nvGraphicFramePr>
        <p:xfrm>
          <a:off x="457200" y="1188720"/>
          <a:ext cx="3000000" cy="3000000"/>
        </p:xfrm>
        <a:graphic>
          <a:graphicData uri="http://schemas.openxmlformats.org/drawingml/2006/table">
            <a:tbl>
              <a:tblPr>
                <a:noFill/>
                <a:tableStyleId>{6BB2B7B9-42E6-43CC-AF5A-983BCAD63E53}</a:tableStyleId>
              </a:tblPr>
              <a:tblGrid>
                <a:gridCol w="1280150"/>
                <a:gridCol w="1828800"/>
                <a:gridCol w="2286000"/>
                <a:gridCol w="731500"/>
                <a:gridCol w="2103100"/>
              </a:tblGrid>
              <a:tr h="292600">
                <a:tc>
                  <a:txBody>
                    <a:bodyPr/>
                    <a:lstStyle/>
                    <a:p>
                      <a:pPr indent="0" lvl="0" marL="0" rtl="0" algn="l">
                        <a:spcBef>
                          <a:spcPts val="0"/>
                        </a:spcBef>
                        <a:spcAft>
                          <a:spcPts val="0"/>
                        </a:spcAft>
                        <a:buNone/>
                      </a:pPr>
                      <a:r>
                        <a:rPr lang="en" sz="950">
                          <a:solidFill>
                            <a:srgbClr val="6B655C"/>
                          </a:solidFill>
                          <a:latin typeface="IBM Plex Sans SemiBold"/>
                          <a:ea typeface="IBM Plex Sans SemiBold"/>
                          <a:cs typeface="IBM Plex Sans SemiBold"/>
                          <a:sym typeface="IBM Plex Sans SemiBold"/>
                        </a:rPr>
                        <a:t>Approach tested</a:t>
                      </a:r>
                      <a:endParaRPr sz="95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6B655C"/>
                          </a:solidFill>
                          <a:latin typeface="IBM Plex Sans SemiBold"/>
                          <a:ea typeface="IBM Plex Sans SemiBold"/>
                          <a:cs typeface="IBM Plex Sans SemiBold"/>
                          <a:sym typeface="IBM Plex Sans SemiBold"/>
                        </a:rPr>
                        <a:t>Hypothesis</a:t>
                      </a:r>
                      <a:endParaRPr sz="95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6B655C"/>
                          </a:solidFill>
                          <a:latin typeface="IBM Plex Sans SemiBold"/>
                          <a:ea typeface="IBM Plex Sans SemiBold"/>
                          <a:cs typeface="IBM Plex Sans SemiBold"/>
                          <a:sym typeface="IBM Plex Sans SemiBold"/>
                        </a:rPr>
                        <a:t>Evidence (Sept, 68 charges)</a:t>
                      </a:r>
                      <a:endParaRPr sz="95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6B655C"/>
                          </a:solidFill>
                          <a:latin typeface="IBM Plex Sans SemiBold"/>
                          <a:ea typeface="IBM Plex Sans SemiBold"/>
                          <a:cs typeface="IBM Plex Sans SemiBold"/>
                          <a:sym typeface="IBM Plex Sans SemiBold"/>
                        </a:rPr>
                        <a:t>Decision</a:t>
                      </a:r>
                      <a:endParaRPr sz="95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6B655C"/>
                          </a:solidFill>
                          <a:latin typeface="IBM Plex Sans SemiBold"/>
                          <a:ea typeface="IBM Plex Sans SemiBold"/>
                          <a:cs typeface="IBM Plex Sans SemiBold"/>
                          <a:sym typeface="IBM Plex Sans SemiBold"/>
                        </a:rPr>
                        <a:t>Why</a:t>
                      </a:r>
                      <a:endParaRPr sz="95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Keyword rules</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Store names imply category</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82%, gym charges filed as Fees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B4532A"/>
                          </a:solidFill>
                          <a:latin typeface="IBM Plex Mono SemiBold"/>
                          <a:ea typeface="IBM Plex Mono SemiBold"/>
                          <a:cs typeface="IBM Plex Mono SemiBold"/>
                          <a:sym typeface="IBM Plex Mono SemiBold"/>
                        </a:rPr>
                        <a:t>Reject</a:t>
                      </a:r>
                      <a:endParaRPr sz="950">
                        <a:solidFill>
                          <a:srgbClr val="B4532A"/>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LLM: 93% on the same charges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Text classifier</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Learns from our examples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84% seen, 26% new merchants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B4532A"/>
                          </a:solidFill>
                          <a:latin typeface="IBM Plex Mono SemiBold"/>
                          <a:ea typeface="IBM Plex Mono SemiBold"/>
                          <a:cs typeface="IBM Plex Mono SemiBold"/>
                          <a:sym typeface="IBM Plex Mono SemiBold"/>
                        </a:rPr>
                        <a:t>Reject</a:t>
                      </a:r>
                      <a:endParaRPr sz="950">
                        <a:solidFill>
                          <a:srgbClr val="B4532A"/>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Confident when wrong</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Small neural net</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More capacity, better fit</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84% seen, 24% new merchants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56687A"/>
                          </a:solidFill>
                          <a:latin typeface="IBM Plex Mono SemiBold"/>
                          <a:ea typeface="IBM Plex Mono SemiBold"/>
                          <a:cs typeface="IBM Plex Mono SemiBold"/>
                          <a:sym typeface="IBM Plex Mono SemiBold"/>
                        </a:rPr>
                        <a:t>Defer</a:t>
                      </a:r>
                      <a:endParaRPr sz="950">
                        <a:solidFill>
                          <a:srgbClr val="56687A"/>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Needs many students' data</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Similarity search</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Similar text, same category</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90% seen, 22% new merchants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B4532A"/>
                          </a:solidFill>
                          <a:latin typeface="IBM Plex Mono SemiBold"/>
                          <a:ea typeface="IBM Plex Mono SemiBold"/>
                          <a:cs typeface="IBM Plex Mono SemiBold"/>
                          <a:sym typeface="IBM Plex Mono SemiBold"/>
                        </a:rPr>
                        <a:t>Reject</a:t>
                      </a:r>
                      <a:endParaRPr sz="950">
                        <a:solidFill>
                          <a:srgbClr val="B4532A"/>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Similar text ≠ same category</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LLM categorizer</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Knows unseen merchants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93–94%, 17 of 19 misses flagged</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9C6B1E"/>
                          </a:solidFill>
                          <a:latin typeface="IBM Plex Mono SemiBold"/>
                          <a:ea typeface="IBM Plex Mono SemiBold"/>
                          <a:cs typeface="IBM Plex Mono SemiBold"/>
                          <a:sym typeface="IBM Plex Mono SemiBold"/>
                        </a:rPr>
                        <a:t>Modify</a:t>
                      </a:r>
                      <a:endParaRPr sz="950">
                        <a:solidFill>
                          <a:srgbClr val="9C6B1E"/>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Ask the student when unsure</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Code for totals</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Totals must be exact</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Exact, LLM matched it 4 of 4 runs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2F6B4F"/>
                          </a:solidFill>
                          <a:latin typeface="IBM Plex Mono SemiBold"/>
                          <a:ea typeface="IBM Plex Mono SemiBold"/>
                          <a:cs typeface="IBM Plex Mono SemiBold"/>
                          <a:sym typeface="IBM Plex Mono SemiBold"/>
                        </a:rPr>
                        <a:t>Adopt</a:t>
                      </a:r>
                      <a:endParaRPr sz="950">
                        <a:solidFill>
                          <a:srgbClr val="2F6B4F"/>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Code is the answer key</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Recurring rule</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Same amount each month</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11 of 13, missed electric, iCloud</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9C6B1E"/>
                          </a:solidFill>
                          <a:latin typeface="IBM Plex Mono SemiBold"/>
                          <a:ea typeface="IBM Plex Mono SemiBold"/>
                          <a:cs typeface="IBM Plex Mono SemiBold"/>
                          <a:sym typeface="IBM Plex Mono SemiBold"/>
                        </a:rPr>
                        <a:t>Modify</a:t>
                      </a:r>
                      <a:endParaRPr sz="950">
                        <a:solidFill>
                          <a:srgbClr val="9C6B1E"/>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Let utility amounts vary</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LLM explanation</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Explains, adds no numbers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Only our numbers, 1 run so far</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2F6B4F"/>
                          </a:solidFill>
                          <a:latin typeface="IBM Plex Mono SemiBold"/>
                          <a:ea typeface="IBM Plex Mono SemiBold"/>
                          <a:cs typeface="IBM Plex Mono SemiBold"/>
                          <a:sym typeface="IBM Plex Mono SemiBold"/>
                        </a:rPr>
                        <a:t>Adopt</a:t>
                      </a:r>
                      <a:endParaRPr sz="950">
                        <a:solidFill>
                          <a:srgbClr val="2F6B4F"/>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Numbers stay traceable</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329175">
                <a:tc>
                  <a:txBody>
                    <a:bodyPr/>
                    <a:lstStyle/>
                    <a:p>
                      <a:pPr indent="0" lvl="0" marL="0" rtl="0" algn="l">
                        <a:spcBef>
                          <a:spcPts val="0"/>
                        </a:spcBef>
                        <a:spcAft>
                          <a:spcPts val="0"/>
                        </a:spcAft>
                        <a:buNone/>
                      </a:pPr>
                      <a:r>
                        <a:rPr lang="en" sz="1000">
                          <a:solidFill>
                            <a:srgbClr val="1F1D1A"/>
                          </a:solidFill>
                          <a:latin typeface="IBM Plex Sans SemiBold"/>
                          <a:ea typeface="IBM Plex Sans SemiBold"/>
                          <a:cs typeface="IBM Plex Sans SemiBold"/>
                          <a:sym typeface="IBM Plex Sans SemiBold"/>
                        </a:rPr>
                        <a:t>Receipt OCR</a:t>
                      </a:r>
                      <a:endParaRPr sz="10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Receipts show the items</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Untested, 12% of charges affected</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950">
                          <a:solidFill>
                            <a:srgbClr val="56687A"/>
                          </a:solidFill>
                          <a:latin typeface="IBM Plex Mono SemiBold"/>
                          <a:ea typeface="IBM Plex Mono SemiBold"/>
                          <a:cs typeface="IBM Plex Mono SemiBold"/>
                          <a:sym typeface="IBM Plex Mono SemiBold"/>
                        </a:rPr>
                        <a:t>Defer</a:t>
                      </a:r>
                      <a:endParaRPr sz="950">
                        <a:solidFill>
                          <a:srgbClr val="56687A"/>
                        </a:solidFill>
                        <a:latin typeface="IBM Plex Mono SemiBold"/>
                        <a:ea typeface="IBM Plex Mono SemiBold"/>
                        <a:cs typeface="IBM Plex Mono SemiBold"/>
                        <a:sym typeface="IBM Plex Mono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000">
                          <a:solidFill>
                            <a:srgbClr val="1F1D1A"/>
                          </a:solidFill>
                          <a:latin typeface="IBM Plex Sans"/>
                          <a:ea typeface="IBM Plex Sans"/>
                          <a:cs typeface="IBM Plex Sans"/>
                          <a:sym typeface="IBM Plex Sans"/>
                        </a:rPr>
                        <a:t>Try past answers first</a:t>
                      </a:r>
                      <a:endParaRPr sz="1000">
                        <a:solidFill>
                          <a:srgbClr val="1F1D1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bl>
          </a:graphicData>
        </a:graphic>
      </p:graphicFrame>
      <p:sp>
        <p:nvSpPr>
          <p:cNvPr id="262" name="Google Shape;262;p22"/>
          <p:cNvSpPr txBox="1"/>
          <p:nvPr/>
        </p:nvSpPr>
        <p:spPr>
          <a:xfrm>
            <a:off x="365760" y="4681728"/>
            <a:ext cx="7772400" cy="274200"/>
          </a:xfrm>
          <a:prstGeom prst="rect">
            <a:avLst/>
          </a:prstGeom>
          <a:noFill/>
          <a:ln>
            <a:noFill/>
          </a:ln>
        </p:spPr>
        <p:txBody>
          <a:bodyPr anchorCtr="0" anchor="t" bIns="91425" lIns="91425" spcFirstLastPara="1" rIns="91425" wrap="square" tIns="91425">
            <a:noAutofit/>
          </a:bodyPr>
          <a:lstStyle/>
          <a:p>
            <a:pPr indent="0" lvl="0" marL="0" rtl="0" algn="l">
              <a:lnSpc>
                <a:spcPct val="105000"/>
              </a:lnSpc>
              <a:spcBef>
                <a:spcPts val="0"/>
              </a:spcBef>
              <a:spcAft>
                <a:spcPts val="0"/>
              </a:spcAft>
              <a:buNone/>
            </a:pPr>
            <a:r>
              <a:rPr lang="en" sz="950">
                <a:solidFill>
                  <a:srgbClr val="9A9285"/>
                </a:solidFill>
                <a:latin typeface="IBM Plex Sans"/>
                <a:ea typeface="IBM Plex Sans"/>
                <a:cs typeface="IBM Plex Sans"/>
                <a:sym typeface="IBM Plex Sans"/>
              </a:rPr>
              <a:t>Accuracy: the 68 September charges the LLM saw. Bill check and 12%: all 3 months. “New” = store never in training.</a:t>
            </a:r>
            <a:endParaRPr sz="950">
              <a:solidFill>
                <a:srgbClr val="9A9285"/>
              </a:solidFill>
              <a:latin typeface="IBM Plex Sans"/>
              <a:ea typeface="IBM Plex Sans"/>
              <a:cs typeface="IBM Plex Sans"/>
              <a:sym typeface="IBM Plex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F4F1EA"/>
        </a:solidFill>
      </p:bgPr>
    </p:bg>
    <p:spTree>
      <p:nvGrpSpPr>
        <p:cNvPr id="266" name="Shape 266"/>
        <p:cNvGrpSpPr/>
        <p:nvPr/>
      </p:nvGrpSpPr>
      <p:grpSpPr>
        <a:xfrm>
          <a:off x="0" y="0"/>
          <a:ext cx="0" cy="0"/>
          <a:chOff x="0" y="0"/>
          <a:chExt cx="0" cy="0"/>
        </a:xfrm>
      </p:grpSpPr>
      <p:sp>
        <p:nvSpPr>
          <p:cNvPr id="267" name="Google Shape;267;p23"/>
          <p:cNvSpPr txBox="1"/>
          <p:nvPr/>
        </p:nvSpPr>
        <p:spPr>
          <a:xfrm>
            <a:off x="365760" y="292608"/>
            <a:ext cx="7498200" cy="255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000">
                <a:solidFill>
                  <a:srgbClr val="6B655C"/>
                </a:solidFill>
                <a:latin typeface="IBM Plex Mono"/>
                <a:ea typeface="IBM Plex Mono"/>
                <a:cs typeface="IBM Plex Mono"/>
                <a:sym typeface="IBM Plex Mono"/>
              </a:rPr>
              <a:t>TEAM CONTRIBUTION SNAPSHOT</a:t>
            </a:r>
            <a:endParaRPr sz="1000">
              <a:solidFill>
                <a:srgbClr val="6B655C"/>
              </a:solidFill>
              <a:latin typeface="IBM Plex Mono"/>
              <a:ea typeface="IBM Plex Mono"/>
              <a:cs typeface="IBM Plex Mono"/>
              <a:sym typeface="IBM Plex Mono"/>
            </a:endParaRPr>
          </a:p>
        </p:txBody>
      </p:sp>
      <p:sp>
        <p:nvSpPr>
          <p:cNvPr id="268" name="Google Shape;268;p23"/>
          <p:cNvSpPr txBox="1"/>
          <p:nvPr/>
        </p:nvSpPr>
        <p:spPr>
          <a:xfrm>
            <a:off x="365760" y="512064"/>
            <a:ext cx="8412600" cy="960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800">
                <a:solidFill>
                  <a:srgbClr val="1F1D1A"/>
                </a:solidFill>
                <a:latin typeface="IBM Plex Serif SemiBold"/>
                <a:ea typeface="IBM Plex Serif SemiBold"/>
                <a:cs typeface="IBM Plex Serif SemiBold"/>
                <a:sym typeface="IBM Plex Serif SemiBold"/>
              </a:rPr>
              <a:t>Who did what: </a:t>
            </a:r>
            <a:r>
              <a:rPr lang="en" sz="1300" u="sng">
                <a:solidFill>
                  <a:schemeClr val="hlink"/>
                </a:solidFill>
                <a:latin typeface="IBM Plex Serif SemiBold"/>
                <a:ea typeface="IBM Plex Serif SemiBold"/>
                <a:cs typeface="IBM Plex Serif SemiBold"/>
                <a:sym typeface="IBM Plex Serif SemiBold"/>
                <a:hlinkClick r:id="rId3"/>
              </a:rPr>
              <a:t>https://drive.google.com/drive/folders/1ON98bTv1s4N0X8jsCrmlbD7CLP3OIScL?usp=sharing</a:t>
            </a:r>
            <a:endParaRPr sz="1300">
              <a:solidFill>
                <a:srgbClr val="1F1D1A"/>
              </a:solidFill>
              <a:latin typeface="IBM Plex Serif SemiBold"/>
              <a:ea typeface="IBM Plex Serif SemiBold"/>
              <a:cs typeface="IBM Plex Serif SemiBold"/>
              <a:sym typeface="IBM Plex Serif SemiBold"/>
            </a:endParaRPr>
          </a:p>
          <a:p>
            <a:pPr indent="0" lvl="0" marL="0" rtl="0" algn="l">
              <a:spcBef>
                <a:spcPts val="0"/>
              </a:spcBef>
              <a:spcAft>
                <a:spcPts val="0"/>
              </a:spcAft>
              <a:buNone/>
            </a:pPr>
            <a:r>
              <a:t/>
            </a:r>
            <a:endParaRPr sz="2800">
              <a:solidFill>
                <a:srgbClr val="1F1D1A"/>
              </a:solidFill>
              <a:latin typeface="IBM Plex Serif SemiBold"/>
              <a:ea typeface="IBM Plex Serif SemiBold"/>
              <a:cs typeface="IBM Plex Serif SemiBold"/>
              <a:sym typeface="IBM Plex Serif SemiBold"/>
            </a:endParaRPr>
          </a:p>
        </p:txBody>
      </p:sp>
      <p:sp>
        <p:nvSpPr>
          <p:cNvPr id="269" name="Google Shape;269;p23"/>
          <p:cNvSpPr txBox="1"/>
          <p:nvPr/>
        </p:nvSpPr>
        <p:spPr>
          <a:xfrm>
            <a:off x="8138160" y="4754880"/>
            <a:ext cx="640200" cy="237600"/>
          </a:xfrm>
          <a:prstGeom prst="rect">
            <a:avLst/>
          </a:prstGeom>
          <a:noFill/>
          <a:ln>
            <a:noFill/>
          </a:ln>
        </p:spPr>
        <p:txBody>
          <a:bodyPr anchorCtr="0" anchor="t" bIns="91425" lIns="91425" spcFirstLastPara="1" rIns="91425" wrap="square" tIns="91425">
            <a:noAutofit/>
          </a:bodyPr>
          <a:lstStyle/>
          <a:p>
            <a:pPr indent="0" lvl="0" marL="0" rtl="0" algn="r">
              <a:spcBef>
                <a:spcPts val="0"/>
              </a:spcBef>
              <a:spcAft>
                <a:spcPts val="0"/>
              </a:spcAft>
              <a:buNone/>
            </a:pPr>
            <a:r>
              <a:rPr lang="en" sz="900">
                <a:solidFill>
                  <a:srgbClr val="9A9285"/>
                </a:solidFill>
                <a:latin typeface="IBM Plex Mono"/>
                <a:ea typeface="IBM Plex Mono"/>
                <a:cs typeface="IBM Plex Mono"/>
                <a:sym typeface="IBM Plex Mono"/>
              </a:rPr>
              <a:t>11</a:t>
            </a:r>
            <a:endParaRPr sz="900">
              <a:solidFill>
                <a:srgbClr val="9A9285"/>
              </a:solidFill>
              <a:latin typeface="IBM Plex Mono"/>
              <a:ea typeface="IBM Plex Mono"/>
              <a:cs typeface="IBM Plex Mono"/>
              <a:sym typeface="IBM Plex Mono"/>
            </a:endParaRPr>
          </a:p>
        </p:txBody>
      </p:sp>
      <p:graphicFrame>
        <p:nvGraphicFramePr>
          <p:cNvPr id="270" name="Google Shape;270;p23"/>
          <p:cNvGraphicFramePr/>
          <p:nvPr/>
        </p:nvGraphicFramePr>
        <p:xfrm>
          <a:off x="457200" y="1371600"/>
          <a:ext cx="3000000" cy="3000000"/>
        </p:xfrm>
        <a:graphic>
          <a:graphicData uri="http://schemas.openxmlformats.org/drawingml/2006/table">
            <a:tbl>
              <a:tblPr>
                <a:noFill/>
                <a:tableStyleId>{6BB2B7B9-42E6-43CC-AF5A-983BCAD63E53}</a:tableStyleId>
              </a:tblPr>
              <a:tblGrid>
                <a:gridCol w="2377425"/>
                <a:gridCol w="5852150"/>
              </a:tblGrid>
              <a:tr h="310875">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Team member</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c>
                  <a:txBody>
                    <a:bodyPr/>
                    <a:lstStyle/>
                    <a:p>
                      <a:pPr indent="0" lvl="0" marL="0" rtl="0" algn="l">
                        <a:spcBef>
                          <a:spcPts val="0"/>
                        </a:spcBef>
                        <a:spcAft>
                          <a:spcPts val="0"/>
                        </a:spcAft>
                        <a:buNone/>
                      </a:pPr>
                      <a:r>
                        <a:rPr lang="en" sz="1100">
                          <a:solidFill>
                            <a:srgbClr val="6B655C"/>
                          </a:solidFill>
                          <a:latin typeface="IBM Plex Sans SemiBold"/>
                          <a:ea typeface="IBM Plex Sans SemiBold"/>
                          <a:cs typeface="IBM Plex Sans SemiBold"/>
                          <a:sym typeface="IBM Plex Sans SemiBold"/>
                        </a:rPr>
                        <a:t>Main responsibility in A2</a:t>
                      </a:r>
                      <a:endParaRPr sz="1100">
                        <a:solidFill>
                          <a:srgbClr val="6B655C"/>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F4F1EA">
                          <a:alpha val="0"/>
                        </a:srgbClr>
                      </a:solidFill>
                      <a:prstDash val="solid"/>
                      <a:round/>
                      <a:headEnd len="sm" w="sm" type="none"/>
                      <a:tailEnd len="sm" w="sm" type="none"/>
                    </a:lnT>
                    <a:lnB cap="flat" cmpd="sng" w="12700">
                      <a:solidFill>
                        <a:srgbClr val="1F1D1A"/>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500">
                          <a:solidFill>
                            <a:srgbClr val="1F1D1A"/>
                          </a:solidFill>
                          <a:latin typeface="IBM Plex Sans SemiBold"/>
                          <a:ea typeface="IBM Plex Sans SemiBold"/>
                          <a:cs typeface="IBM Plex Sans SemiBold"/>
                          <a:sym typeface="IBM Plex Sans SemiBold"/>
                        </a:rPr>
                        <a:t>Josh Ramirez</a:t>
                      </a:r>
                      <a:endParaRPr sz="15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500">
                          <a:solidFill>
                            <a:srgbClr val="B4532A"/>
                          </a:solidFill>
                          <a:latin typeface="IBM Plex Sans"/>
                          <a:ea typeface="IBM Plex Sans"/>
                          <a:cs typeface="IBM Plex Sans"/>
                          <a:sym typeface="IBM Plex Sans"/>
                        </a:rPr>
                        <a:t>System Map, Training Models</a:t>
                      </a:r>
                      <a:endParaRPr sz="1500">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12700">
                      <a:solidFill>
                        <a:srgbClr val="1F1D1A"/>
                      </a:solidFill>
                      <a:prstDash val="solid"/>
                      <a:round/>
                      <a:headEnd len="sm" w="sm" type="none"/>
                      <a:tailEnd len="sm" w="sm" type="none"/>
                    </a:lnT>
                    <a:lnB cap="flat" cmpd="sng" w="9525">
                      <a:solidFill>
                        <a:srgbClr val="D3CBBC"/>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500">
                          <a:solidFill>
                            <a:srgbClr val="1F1D1A"/>
                          </a:solidFill>
                          <a:latin typeface="IBM Plex Sans SemiBold"/>
                          <a:ea typeface="IBM Plex Sans SemiBold"/>
                          <a:cs typeface="IBM Plex Sans SemiBold"/>
                          <a:sym typeface="IBM Plex Sans SemiBold"/>
                        </a:rPr>
                        <a:t>Neil Paul</a:t>
                      </a:r>
                      <a:endParaRPr sz="15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None/>
                      </a:pPr>
                      <a:r>
                        <a:rPr lang="en" sz="1500">
                          <a:solidFill>
                            <a:srgbClr val="B4532A"/>
                          </a:solidFill>
                          <a:latin typeface="IBM Plex Sans"/>
                          <a:ea typeface="IBM Plex Sans"/>
                          <a:cs typeface="IBM Plex Sans"/>
                          <a:sym typeface="IBM Plex Sans"/>
                        </a:rPr>
                        <a:t>Brainstorming Approaches, System Design</a:t>
                      </a:r>
                      <a:endParaRPr sz="1500">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r h="457200">
                <a:tc>
                  <a:txBody>
                    <a:bodyPr/>
                    <a:lstStyle/>
                    <a:p>
                      <a:pPr indent="0" lvl="0" marL="0" rtl="0" algn="l">
                        <a:spcBef>
                          <a:spcPts val="0"/>
                        </a:spcBef>
                        <a:spcAft>
                          <a:spcPts val="0"/>
                        </a:spcAft>
                        <a:buNone/>
                      </a:pPr>
                      <a:r>
                        <a:rPr lang="en" sz="1500">
                          <a:solidFill>
                            <a:srgbClr val="1F1D1A"/>
                          </a:solidFill>
                          <a:latin typeface="IBM Plex Sans SemiBold"/>
                          <a:ea typeface="IBM Plex Sans SemiBold"/>
                          <a:cs typeface="IBM Plex Sans SemiBold"/>
                          <a:sym typeface="IBM Plex Sans SemiBold"/>
                        </a:rPr>
                        <a:t>Neil Shrestha</a:t>
                      </a:r>
                      <a:endParaRPr sz="1500">
                        <a:solidFill>
                          <a:srgbClr val="1F1D1A"/>
                        </a:solidFill>
                        <a:latin typeface="IBM Plex Sans SemiBold"/>
                        <a:ea typeface="IBM Plex Sans SemiBold"/>
                        <a:cs typeface="IBM Plex Sans SemiBold"/>
                        <a:sym typeface="IBM Plex Sans SemiBold"/>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c>
                  <a:txBody>
                    <a:bodyPr/>
                    <a:lstStyle/>
                    <a:p>
                      <a:pPr indent="0" lvl="0" marL="0" rtl="0" algn="l">
                        <a:spcBef>
                          <a:spcPts val="0"/>
                        </a:spcBef>
                        <a:spcAft>
                          <a:spcPts val="0"/>
                        </a:spcAft>
                        <a:buClr>
                          <a:schemeClr val="dk1"/>
                        </a:buClr>
                        <a:buSzPts val="1100"/>
                        <a:buFont typeface="Arial"/>
                        <a:buNone/>
                      </a:pPr>
                      <a:r>
                        <a:rPr lang="en" sz="1500">
                          <a:solidFill>
                            <a:srgbClr val="B4532A"/>
                          </a:solidFill>
                          <a:latin typeface="IBM Plex Sans"/>
                          <a:ea typeface="IBM Plex Sans"/>
                          <a:cs typeface="IBM Plex Sans"/>
                          <a:sym typeface="IBM Plex Sans"/>
                        </a:rPr>
                        <a:t>Test data, All experiments, Evidence table, Slides</a:t>
                      </a:r>
                      <a:endParaRPr sz="1500">
                        <a:solidFill>
                          <a:srgbClr val="B4532A"/>
                        </a:solidFill>
                        <a:latin typeface="IBM Plex Sans"/>
                        <a:ea typeface="IBM Plex Sans"/>
                        <a:cs typeface="IBM Plex Sans"/>
                        <a:sym typeface="IBM Plex Sans"/>
                      </a:endParaRPr>
                    </a:p>
                  </a:txBody>
                  <a:tcPr marT="91425" marB="91425" marR="91425" marL="91425" anchor="ctr">
                    <a:lnL cap="flat" cmpd="sng" w="9525">
                      <a:solidFill>
                        <a:srgbClr val="F4F1EA">
                          <a:alpha val="0"/>
                        </a:srgbClr>
                      </a:solidFill>
                      <a:prstDash val="solid"/>
                      <a:round/>
                      <a:headEnd len="sm" w="sm" type="none"/>
                      <a:tailEnd len="sm" w="sm" type="none"/>
                    </a:lnL>
                    <a:lnR cap="flat" cmpd="sng" w="9525">
                      <a:solidFill>
                        <a:srgbClr val="F4F1EA">
                          <a:alpha val="0"/>
                        </a:srgbClr>
                      </a:solidFill>
                      <a:prstDash val="solid"/>
                      <a:round/>
                      <a:headEnd len="sm" w="sm" type="none"/>
                      <a:tailEnd len="sm" w="sm" type="none"/>
                    </a:lnR>
                    <a:lnT cap="flat" cmpd="sng" w="9525">
                      <a:solidFill>
                        <a:srgbClr val="D3CBBC"/>
                      </a:solidFill>
                      <a:prstDash val="solid"/>
                      <a:round/>
                      <a:headEnd len="sm" w="sm" type="none"/>
                      <a:tailEnd len="sm" w="sm" type="none"/>
                    </a:lnT>
                    <a:lnB cap="flat" cmpd="sng" w="9525">
                      <a:solidFill>
                        <a:srgbClr val="D3CBBC"/>
                      </a:solidFill>
                      <a:prstDash val="solid"/>
                      <a:round/>
                      <a:headEnd len="sm" w="sm" type="none"/>
                      <a:tailEnd len="sm" w="sm" type="none"/>
                    </a:lnB>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